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62" r:id="rId9"/>
    <p:sldId id="263" r:id="rId10"/>
    <p:sldId id="264" r:id="rId11"/>
    <p:sldId id="265" r:id="rId12"/>
    <p:sldId id="266" r:id="rId13"/>
    <p:sldId id="267" r:id="rId14"/>
    <p:sldId id="271" r:id="rId15"/>
    <p:sldId id="274" r:id="rId16"/>
    <p:sldId id="269" r:id="rId17"/>
    <p:sldId id="272" r:id="rId18"/>
    <p:sldId id="279" r:id="rId19"/>
    <p:sldId id="283" r:id="rId20"/>
    <p:sldId id="275" r:id="rId21"/>
    <p:sldId id="276" r:id="rId22"/>
    <p:sldId id="277" r:id="rId23"/>
    <p:sldId id="278" r:id="rId24"/>
    <p:sldId id="270" r:id="rId25"/>
    <p:sldId id="284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4557"/>
    <a:srgbClr val="0053A0"/>
    <a:srgbClr val="EE3A43"/>
    <a:srgbClr val="9F1B32"/>
    <a:srgbClr val="F8FAFC"/>
    <a:srgbClr val="1C1C1C"/>
    <a:srgbClr val="292929"/>
    <a:srgbClr val="4D4D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27" autoAdjust="0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96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Риск</c:v>
                </c:pt>
              </c:strCache>
            </c:strRef>
          </c:tx>
          <c:spPr>
            <a:solidFill>
              <a:srgbClr val="0E74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SMTP relay (1×3)</c:v>
                </c:pt>
                <c:pt idx="1">
                  <c:v>Переполнение буфера (1×5)</c:v>
                </c:pt>
                <c:pt idx="2">
                  <c:v>DoS веб-сервера (1×5)</c:v>
                </c:pt>
                <c:pt idx="3">
                  <c:v>Сбой ISP, e-mail (2×3)</c:v>
                </c:pt>
                <c:pt idx="4">
                  <c:v>Отказ питания, e-mail (3×3)</c:v>
                </c:pt>
                <c:pt idx="5">
                  <c:v>Сбой железа, e-mail (3×3)</c:v>
                </c:pt>
                <c:pt idx="6">
                  <c:v>Сбой ПО веб (2×5)</c:v>
                </c:pt>
                <c:pt idx="7">
                  <c:v>Сбой железа веб (2×5)</c:v>
                </c:pt>
                <c:pt idx="8">
                  <c:v>Сбой ПО e-mail (4×3)</c:v>
                </c:pt>
                <c:pt idx="9">
                  <c:v>Сбой веб/ISP (4×5)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</c:v>
                </c:pt>
                <c:pt idx="1">
                  <c:v>5</c:v>
                </c:pt>
                <c:pt idx="2">
                  <c:v>5</c:v>
                </c:pt>
                <c:pt idx="3">
                  <c:v>6</c:v>
                </c:pt>
                <c:pt idx="4">
                  <c:v>9</c:v>
                </c:pt>
                <c:pt idx="5">
                  <c:v>9</c:v>
                </c:pt>
                <c:pt idx="6">
                  <c:v>10</c:v>
                </c:pt>
                <c:pt idx="7">
                  <c:v>10</c:v>
                </c:pt>
                <c:pt idx="8">
                  <c:v>12</c:v>
                </c:pt>
                <c:pt idx="9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C6-4806-80BA-D4C08B599B2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E293B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4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8300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Добро пожаловать в модуль 4. Мы разберём, как организация находит риски, оценивает их и решает, что с ними делать. Пройдём путь от активов и угроз до анализа затрат и выгод. К концу вы сможете провести простую оценку риска.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Риск возникает, когда угроза может использовать уязвимость актива. Поэтому сначала нужно знать свои активы и знать угрозы. Контроли недостаточно внедрить: их надо регулярно проверять и обслуживать. Напомните про асимметрию: защитнику нужно выигрывать всегда, атакующему достаточно одного успеха.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Управление рисками — четыре вопроса: где риск, насколько он серьёзен, приемлем ли он и что делать. Первые три вопроса вместе называются оценкой риска, четвёртый — контролем риска. Ответственность лежит на каждом руководителе, процесс формальный и повторяется.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Рамка — это планирование, процесс — его исполнение, и оба цикличны. В рамке пять этапов. InfoSec лучше всех знает угрозы, IT строит и эксплуатирует системы, руководство даёт ресурсы, а пользователи знают ценность активов. Все три сообщества вместе оценивают и проверяют контроли.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Риск-аппетит задаёт руководство: сколько риска организация готова принять. Толерантность — то же по конкретному активу; нулевая толерантность требует максимальной защиты. Остаточный риск после контролей никогда не равен нулю. Всё это фиксируется в политике 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Начнём с инвентаризации: сначала просто составляем список активов — людей, процедуры, данные, ПО, оборудование и сети — и пока не считаем их стоимость. Для каждого актива записываем имя, адрес, серийный номер, версию ПО и FCO — это номер изменения, сделанного на месте. Когда список готов, решаем, какие активы важнее, и как это посчитать, мы разберём на следующем слайде. Вывод: нельзя защитить то, о чём не знаешь. Как вы думаете, что случится, если забыть внести актив в список?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Как понять, какой актив важнее? Берём три оценки — доход, прибыль и репутацию — и у каждой свой вес: 0,3, 0,4 и 0,3. Заказ клиента: все три оценки равны 5, поэтому 1,5 плюс 2,0 плюс 1,5 даёт 5,0 — критично важный актив. Документ EDI — это электронный обмен документами: оценки 5, 5 и 3, то есть 1,5 плюс 2,0 плюс 0,9, итого 4,4 — очень важный. Вывод: чем выше итог, тем внимательнее мы защищаем актив. Как думаете, почему у прибыли вес больше, чем у остальных?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 модуле 2 выделены 12 категорий угроз. Не все актуальны: неподходящие исключают. Для оставшихся задают вопросы: реальна ли угроза, внутренняя или внешняя, насколько вероятен успех, тяжесть потерь и стоимость защиты.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Риск — это вероятность, умноженная на воздействие. Вероятность оцениваем от 1 до 5 и воздействие тоже от 1 до 5, поэтому итог лежит от 1 до 25. Возьмём пример: вероятность 3, воздействие 5, значит, 3 умножить на 5 — получаем 15, риск серьёзный. Но данные никогда не бывают точными: при точности 90 процентов риск может оказаться и 13,5, и 16,5. Поэтому последнее слово остаётся за менеджером — как вы думаете, почему?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Пример из модуля: заказы клиентов и e-mail. Самый высокий риск — отказ веб-сервера или провайдера: вероятность 4, воздействие 5, итого 20. Решение — более мощный сервер и надёжный провайдер. Рейтинг помогает решить, с чего начинать.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Для каждого неприемлемого риска выбираем одну из четырёх стратегий: снижение, передача, принятие или прекращение. Снижение — самый предпочтительный вариант: ставим контроли, например межсетевой экран или резервное копирование. Передача — это перенос риска на другую сторону: страховка или хостинг у провайдера по соглашению об уровне услуг, SLA. Принятие допустимо только после оценки и анализа затрат и выгод, его называют CBA, и мы скоро его посчитаем. Вывод: принятие без анализа — это пренебрежение, а не стратегия; как вы думаете, почему?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Снижение риска держится на трёх опорах: политика, обучение и технологии. Обучение называют SETA — это образование, тренинги и осведомлённость сотрудников. Технологии — это IDS, система обнаружения вторжений, и IPS, которая вторжение ещё и останавливает. Передача риска опирается на SLA, соглашение об уровне услуг: в нём записаны категория услуги, допустимое качество, метрика, штрафы и частота измерения. Вывод: принять риск можно, только если анализ затрат и выгод показал, что защита не оправдана.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Считаем потери по порядку, здесь три формулы. Первая — SLE, потери за одну атаку: цена актива, миллион долларов, умножить на долю потери, 10 процентов, — получаем 100 тысяч долларов. Вторая — ARO, сколько атак ждём в год: одна атака в два года — это 0,5 атаки в год. Третья — ALE, потери за год: 100 тысяч за атаку умножаем на 0,5 и получаем 50 тысяч долларов в год. Запомните: SLE — за один раз, ALE — за год; почему для годовых потерь нужна частота атак?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Теперь применим это к защите. Без защиты мы теряем в год 50 тысяч долларов, а с защитой — 10 тысяч, потому что атаки становятся реже: раз в десять лет вместо раза в два года. Но сама защита стоит 15 тысяч долларов в год. Чтобы понять, стоит ли она того, из прежних потерь вычитаем новые потери и цену защиты — это и есть формула CBA. Считаем по шагам на следующем слайде; значения после защиты — допущение для примера. Как думаете, окупится ли она?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Считаем по шагам: без защиты мы теряем 50 тысяч долларов в год, с защитой — 10 тысяч, а сама защита стоит 15 тысяч в год. Вычитаем: 50 минус 10 минус 15 — выигрыш 25 тысяч долларов. Это как замок на велосипед: его стоит покупать, если кража обошлась бы дороже замка. Вывод: CBA больше нуля, защита окупается, внедряем; а при цене защиты 45 тысяч получилось бы минус 5 тысяч, и внедрять не стоило бы. Как думаете, при какой цене защиты мы выйдем ровно в ноль?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Иллюстративный пример не из учебника: база клиентов с персональными данными. Проходим цепочку TVA, оценку и меры. Обратите внимание на следующий слайд, где показано изменение на матрице.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На матрице риск 3×5=15 выше порога 10, после мер получается 2×4=8. Значения после мер — допущение. Остаточный риск принимается осознанно и пересматривается.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Всё, что мы разбирали (активы, угрозы, оценка, обработка), в реальных организациях выполняется по готовым методологиям. Они отличаются охватом и подходом: качественным или количественным. Дальше по слайдам: OCTAVE, ISO 31000 и 27005, NIST и FAIR, затем сравнение.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Сводка. OCTAVE подходит для самооценки, ISO 31000 как общая рамка, ISO 27005 для организаций с СМИБ, NIST для госсектора и подрядчиков США, FAIR когда нужна оценка в деньгах.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Итоги: риск оценивается по TVA, RM — непрерывный цикл, четыре стратегии, остаточный риск в рамках аппетита, CBA оправдывает затраты. Цель — не нулевой риск, а приемлемый уровень при работе бизнеса.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Основа модуля: учебник Уитмана и Мэттора. Методологии: документы CERT/SEI, стандарты ISO, публикации NIST и The Open Group. Данные по кейсам Equifax, Colonial Pipeline и Norsk Hydro взяты из открытых источников.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548640"/>
            <a:ext cx="3108960" cy="3108960"/>
          </a:xfrm>
          <a:prstGeom prst="ellipse">
            <a:avLst/>
          </a:prstGeom>
          <a:solidFill>
            <a:srgbClr val="F8FAFC">
              <a:alpha val="0"/>
            </a:srgbClr>
          </a:solidFill>
          <a:ln w="19050">
            <a:solidFill>
              <a:srgbClr val="0E74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6309360" y="1188720"/>
            <a:ext cx="1828800" cy="1828800"/>
          </a:xfrm>
          <a:prstGeom prst="ellipse">
            <a:avLst/>
          </a:prstGeom>
          <a:solidFill>
            <a:srgbClr val="F8FAFC">
              <a:alpha val="0"/>
            </a:srgbClr>
          </a:solidFill>
          <a:ln w="19050">
            <a:solidFill>
              <a:srgbClr val="0E74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6858000" y="1737360"/>
            <a:ext cx="731520" cy="731520"/>
          </a:xfrm>
          <a:prstGeom prst="ellipse">
            <a:avLst/>
          </a:prstGeom>
          <a:solidFill>
            <a:srgbClr val="0E7490"/>
          </a:solidFill>
          <a:ln w="19050">
            <a:solidFill>
              <a:srgbClr val="0E74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4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8872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рисками в информационной безопасности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17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Идентификация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обработка риска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0"/>
            <a:ext cx="7360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Алиев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Зия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Мурад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Рагимов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Пашко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Вадим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Азер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Юсифзаде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Нихад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Рагимов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Расул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Шахбазов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риск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Вероятность ущерба;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связк</a:t>
            </a:r>
            <a:r>
              <a:rPr lang="ru-RU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«угроза–уязвимость–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53440"/>
            <a:ext cx="1828800" cy="1170907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621792" y="1366493"/>
            <a:ext cx="1499616" cy="282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673352"/>
            <a:ext cx="1499616" cy="670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Информация, система или ресурс, имеющие ценность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1616825"/>
            <a:ext cx="274320" cy="403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560320" y="1253440"/>
            <a:ext cx="1828800" cy="1170907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2724912" y="1366493"/>
            <a:ext cx="1499616" cy="282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Угроза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724912" y="1673352"/>
            <a:ext cx="1499616" cy="670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Потенциальная причина нежелательного события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1616825"/>
            <a:ext cx="274320" cy="403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663440" y="1253440"/>
            <a:ext cx="1828800" cy="1170907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4828032" y="1366493"/>
            <a:ext cx="1499616" cy="282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Уязвимость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828032" y="1673352"/>
            <a:ext cx="1499616" cy="670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Слабость, которую угроза может использовать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1616825"/>
            <a:ext cx="274320" cy="403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766560" y="1253440"/>
            <a:ext cx="1828800" cy="1170907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931152" y="1366493"/>
            <a:ext cx="1499616" cy="282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931152" y="1673352"/>
            <a:ext cx="1499616" cy="670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Вероятность ущерба для актива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626228"/>
            <a:ext cx="4023360" cy="1534291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621792" y="2739281"/>
            <a:ext cx="3694176" cy="282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Знай свои активы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" y="3046139"/>
            <a:ext cx="3694176" cy="103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это, где находится, какую ценность несёт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уязвимости есть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Контроли требуют регулярной проверки и обслуживания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2626228"/>
            <a:ext cx="4023360" cy="1534291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4828032" y="2739281"/>
            <a:ext cx="3694176" cy="282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Знай угрозы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828032" y="3046139"/>
            <a:ext cx="3694176" cy="103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угрозы действуют на организацию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Ранжирование по значимости угрожаемых активов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Защитник должен выигрывать всегда, атакующему хватит одного успеха</a:t>
            </a:r>
            <a:endParaRPr lang="en-US" sz="1200" dirty="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47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94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41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88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882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029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176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323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617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764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911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2058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2205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352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2499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2646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2793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29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3087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3234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вопроса управления рисками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 (RM) </a:t>
            </a:r>
            <a:r>
              <a:rPr lang="ru-RU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выявление риска, оценка его силы и снижение до приемлемого уровня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34192"/>
            <a:ext cx="1874520" cy="16150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621792" y="1818705"/>
            <a:ext cx="1545336" cy="282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Идентификация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141714"/>
            <a:ext cx="1545336" cy="807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риск и что он собой представляет?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31095"/>
            <a:ext cx="365760" cy="323008"/>
          </a:xfrm>
          <a:prstGeom prst="ellipse">
            <a:avLst/>
          </a:prstGeom>
          <a:solidFill>
            <a:srgbClr val="0E74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0320" y="1334192"/>
            <a:ext cx="1874520" cy="16150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2724912" y="1818705"/>
            <a:ext cx="1545336" cy="282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724912" y="2141714"/>
            <a:ext cx="1545336" cy="807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Насколько серьёзен текущий уровень риска?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68880" y="1431095"/>
            <a:ext cx="365760" cy="323008"/>
          </a:xfrm>
          <a:prstGeom prst="ellipse">
            <a:avLst/>
          </a:prstGeom>
          <a:solidFill>
            <a:srgbClr val="C2410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334192"/>
            <a:ext cx="1874520" cy="16150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4828032" y="1818705"/>
            <a:ext cx="1545336" cy="282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28032" y="2141714"/>
            <a:ext cx="1545336" cy="807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Приемлем ли текущий уровень риска?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1431095"/>
            <a:ext cx="365760" cy="323008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766560" y="1334192"/>
            <a:ext cx="1874520" cy="16150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931152" y="1818705"/>
            <a:ext cx="1545336" cy="282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31152" y="2141714"/>
            <a:ext cx="1545336" cy="807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сделать, чтобы снизить риск до приемлемого?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75120" y="1431095"/>
            <a:ext cx="365760" cy="323008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231869"/>
            <a:ext cx="6172200" cy="40376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0" y="3231868"/>
            <a:ext cx="6172200" cy="403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риска (risk assessment)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766560" y="3231869"/>
            <a:ext cx="1920240" cy="40376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6766560" y="3231869"/>
            <a:ext cx="1920240" cy="403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риска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837511"/>
            <a:ext cx="8229600" cy="32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Ответственность за RM несёт каждый руководитель; процесс формальный и повторяющийся.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47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94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41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88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882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029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176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323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617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764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911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2058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2205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352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2499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2646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2793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29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3087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3234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Рамка RM и роли сообществ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Рамка</a:t>
            </a:r>
            <a:r>
              <a:rPr lang="ru-RU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планирование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процесс</a:t>
            </a:r>
            <a:r>
              <a:rPr lang="ru-RU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три сообщества участвуют в обоих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15189"/>
            <a:ext cx="3749040" cy="474525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1288822"/>
            <a:ext cx="365760" cy="327258"/>
          </a:xfrm>
          <a:prstGeom prst="ellipse">
            <a:avLst/>
          </a:prstGeom>
          <a:solidFill>
            <a:srgbClr val="0E74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215189"/>
            <a:ext cx="3017520" cy="474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Поддержка руководства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04255"/>
            <a:ext cx="3749040" cy="474525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66928" y="1877888"/>
            <a:ext cx="365760" cy="327258"/>
          </a:xfrm>
          <a:prstGeom prst="ellipse">
            <a:avLst/>
          </a:prstGeom>
          <a:solidFill>
            <a:srgbClr val="0E74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804255"/>
            <a:ext cx="3017520" cy="474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Проектирование рамки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393321"/>
            <a:ext cx="3749040" cy="474525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66928" y="2466954"/>
            <a:ext cx="365760" cy="327258"/>
          </a:xfrm>
          <a:prstGeom prst="ellipse">
            <a:avLst/>
          </a:prstGeom>
          <a:solidFill>
            <a:srgbClr val="0E74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393321"/>
            <a:ext cx="3017520" cy="474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Внедрение рамки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982387"/>
            <a:ext cx="3749040" cy="474525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66928" y="3056021"/>
            <a:ext cx="365760" cy="327258"/>
          </a:xfrm>
          <a:prstGeom prst="ellipse">
            <a:avLst/>
          </a:prstGeom>
          <a:solidFill>
            <a:srgbClr val="0E74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2982387"/>
            <a:ext cx="3017520" cy="474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 и пересмотр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571453"/>
            <a:ext cx="3749040" cy="474525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66928" y="3645087"/>
            <a:ext cx="365760" cy="327258"/>
          </a:xfrm>
          <a:prstGeom prst="ellipse">
            <a:avLst/>
          </a:prstGeom>
          <a:solidFill>
            <a:srgbClr val="0E74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571453"/>
            <a:ext cx="3017520" cy="474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Непрерывное улучшение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480560" y="1215189"/>
            <a:ext cx="4206240" cy="940869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4645152" y="1329730"/>
            <a:ext cx="3877056" cy="286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InfoSec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645152" y="1640626"/>
            <a:ext cx="3877056" cy="433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Лидер в работе с угрозами и атаками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480560" y="2237873"/>
            <a:ext cx="4206240" cy="940869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4645152" y="2352414"/>
            <a:ext cx="3877056" cy="286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645152" y="2663310"/>
            <a:ext cx="3877056" cy="433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Строит и эксплуатирует защищённые системы, резервное копирование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480560" y="3260557"/>
            <a:ext cx="4206240" cy="899962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4645152" y="3375098"/>
            <a:ext cx="3877056" cy="286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Руководство и пользователи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645152" y="3685994"/>
            <a:ext cx="3877056" cy="392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Выделяют ресурсы; знают ценность активов</a:t>
            </a:r>
            <a:endParaRPr lang="en-US" sz="1400" dirty="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247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273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29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31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Риск-аппетит, толерантность и остаточный риск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Руководство определяет, какой риск организация готова принять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21448"/>
            <a:ext cx="2651760" cy="1656413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40370"/>
            <a:ext cx="2322576" cy="297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Риск-аппетит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663158"/>
            <a:ext cx="2322576" cy="112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и характер риска, который организация готова принять. Стратегический уровень; фиксируется в заявлении о риск-аппетите.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221448"/>
            <a:ext cx="2651760" cy="1656413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56432" y="1340370"/>
            <a:ext cx="2322576" cy="297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Риск-толерантность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456432" y="1663158"/>
            <a:ext cx="2322576" cy="112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Допустимый риск по конкретному активу. Нулевая толерантность требует максимальной защиты.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1221448"/>
            <a:ext cx="2651760" cy="1656413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91072" y="1340370"/>
            <a:ext cx="2322576" cy="297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Остаточный риск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291072" y="1663158"/>
            <a:ext cx="2322576" cy="112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Риск, оставшийся после внедрения контролей. Никогда не равен нулю.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090222"/>
            <a:ext cx="3657600" cy="25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Политика RM включает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429999"/>
            <a:ext cx="2011680" cy="305799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и охват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06040" y="3429999"/>
            <a:ext cx="2011680" cy="305799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2700">
            <a:solidFill>
              <a:srgbClr val="0E749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 RM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3429999"/>
            <a:ext cx="2011680" cy="305799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Роли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03720" y="3429999"/>
            <a:ext cx="2011680" cy="305799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2700">
            <a:solidFill>
              <a:srgbClr val="0E749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854720"/>
            <a:ext cx="2011680" cy="305799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Аппетит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06040" y="3854720"/>
            <a:ext cx="2011680" cy="305799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2700">
            <a:solidFill>
              <a:srgbClr val="0E749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улучшения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3854720"/>
            <a:ext cx="2011680" cy="305799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пересмотра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03720" y="3854720"/>
            <a:ext cx="2011680" cy="305799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2700">
            <a:solidFill>
              <a:srgbClr val="0E749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Ссылки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7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28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30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32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Идентификация активов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spcAft>
                <a:spcPts val="400"/>
              </a:spcAft>
            </a:pPr>
            <a:r>
              <a:rPr lang="ru-RU" sz="1400" b="0" i="0" dirty="0">
                <a:solidFill>
                  <a:srgbClr val="475569"/>
                </a:solidFill>
                <a:latin typeface="Calibri"/>
              </a:rPr>
              <a:t>Инвентаризация без оценки стоимости. FCO (field change order) - номер изменения на месте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1210993"/>
            <a:ext cx="1645920" cy="956603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621792" y="1322597"/>
            <a:ext cx="1316736" cy="279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Люди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625521"/>
            <a:ext cx="1316736" cy="462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сотрудники, подрядчики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40280" y="1210993"/>
            <a:ext cx="1645920" cy="956603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2404872" y="1322597"/>
            <a:ext cx="1316736" cy="279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Процедуры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404872" y="1625521"/>
            <a:ext cx="1316736" cy="462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стандартные и чувствительные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23360" y="1210993"/>
            <a:ext cx="1645920" cy="956603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4187952" y="1322597"/>
            <a:ext cx="1316736" cy="279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187952" y="1507773"/>
            <a:ext cx="1316736" cy="642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передача, обработка, хранение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287172"/>
            <a:ext cx="1645920" cy="956603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621792" y="2398776"/>
            <a:ext cx="1316736" cy="279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2701700"/>
            <a:ext cx="1316736" cy="462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приложения, ОС, утилиты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240280" y="2287172"/>
            <a:ext cx="1645920" cy="956603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2404872" y="2398776"/>
            <a:ext cx="1316736" cy="279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Оборудование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404872" y="2590097"/>
            <a:ext cx="1316736" cy="462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системы, IoT, устройства защиты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023360" y="2287172"/>
            <a:ext cx="1645920" cy="956603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4187952" y="2398776"/>
            <a:ext cx="1316736" cy="279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Сети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187952" y="2701700"/>
            <a:ext cx="1316736" cy="462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LAN, интранет, облако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897880" y="1210993"/>
            <a:ext cx="2788920" cy="2032781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6062472" y="1322597"/>
            <a:ext cx="2459736" cy="279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Атрибуты в инвентаре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062472" y="1625521"/>
            <a:ext cx="2459736" cy="153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 и метка актива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/ MAC-адрес, тип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Серийный номер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Производитель, модель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Версия ПО, FCO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Лицензии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363350"/>
            <a:ext cx="8229600" cy="79716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21792" y="3474954"/>
            <a:ext cx="7900416" cy="279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spcAft>
                <a:spcPts val="400"/>
              </a:spcAft>
            </a:pPr>
            <a:r>
              <a:rPr lang="ru-RU" sz="1400" b="1" i="0" dirty="0">
                <a:solidFill>
                  <a:srgbClr val="0E7490"/>
                </a:solidFill>
                <a:latin typeface="Calibri"/>
              </a:rPr>
              <a:t>Взвешенный анализ </a:t>
            </a:r>
            <a:r>
              <a:rPr lang="ru-RU" sz="1400" b="1" dirty="0">
                <a:solidFill>
                  <a:srgbClr val="0E7490"/>
                </a:solidFill>
                <a:latin typeface="Calibri"/>
              </a:rPr>
              <a:t>это</a:t>
            </a:r>
            <a:r>
              <a:rPr lang="ru-RU" sz="1400" b="1" i="0" dirty="0">
                <a:solidFill>
                  <a:srgbClr val="0E7490"/>
                </a:solidFill>
                <a:latin typeface="Calibri"/>
              </a:rPr>
              <a:t> одна оценка важности актива из трёх оценок</a:t>
            </a:r>
          </a:p>
        </p:txBody>
      </p:sp>
      <p:sp>
        <p:nvSpPr>
          <p:cNvPr id="27" name="Text 25"/>
          <p:cNvSpPr txBox="1"/>
          <p:nvPr/>
        </p:nvSpPr>
        <p:spPr>
          <a:xfrm>
            <a:off x="621792" y="3777878"/>
            <a:ext cx="7900416" cy="302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spcAft>
                <a:spcPts val="400"/>
              </a:spcAft>
            </a:pPr>
            <a:r>
              <a:rPr lang="ru-RU" sz="1400" b="0" i="0" dirty="0">
                <a:solidFill>
                  <a:srgbClr val="1E293B"/>
                </a:solidFill>
                <a:latin typeface="Calibri"/>
              </a:rPr>
              <a:t>Пример: заказ клиента = 5,0</a:t>
            </a:r>
            <a:r>
              <a:rPr lang="ru-RU"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lang="ru-RU" sz="1400" b="0" i="0" dirty="0">
                <a:solidFill>
                  <a:srgbClr val="1E293B"/>
                </a:solidFill>
                <a:latin typeface="Calibri"/>
              </a:rPr>
              <a:t>критично важный; документ EDI = 4,4 очень важный.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247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273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29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31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2800" b="1" i="0">
                <a:solidFill>
                  <a:srgbClr val="1E293B"/>
                </a:solidFill>
                <a:latin typeface="Calibri"/>
              </a:rPr>
              <a:t>Взвешенный анализ: как оценить актив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400" b="0" i="0">
                <a:solidFill>
                  <a:srgbClr val="475569"/>
                </a:solidFill>
                <a:latin typeface="Calibri"/>
              </a:rPr>
              <a:t>Из трёх оценок делаем одну; у каждой свой вес — чем важнее фактор, тем он больше</a:t>
            </a:r>
          </a:p>
        </p:txBody>
      </p:sp>
      <p:sp>
        <p:nvSpPr>
          <p:cNvPr id="4" name="Rounded Rectangle"/>
          <p:cNvSpPr/>
          <p:nvPr/>
        </p:nvSpPr>
        <p:spPr>
          <a:xfrm>
            <a:off x="457200" y="1188720"/>
            <a:ext cx="82296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"/>
          <p:cNvSpPr txBox="1"/>
          <p:nvPr/>
        </p:nvSpPr>
        <p:spPr>
          <a:xfrm>
            <a:off x="640080" y="1280160"/>
            <a:ext cx="7863840" cy="7848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lang="ru-RU" sz="1400" b="0" i="0" dirty="0">
                <a:solidFill>
                  <a:srgbClr val="1E293B"/>
                </a:solidFill>
                <a:latin typeface="Calibri"/>
              </a:rPr>
              <a:t>Считаем одну общую оценку важности актива для бизнеса</a:t>
            </a:r>
          </a:p>
          <a:p>
            <a:pPr algn="l">
              <a:spcAft>
                <a:spcPts val="300"/>
              </a:spcAft>
            </a:pPr>
            <a:r>
              <a:rPr lang="ru-RU" sz="1800" b="1" i="0" dirty="0">
                <a:solidFill>
                  <a:srgbClr val="0E7490"/>
                </a:solidFill>
                <a:latin typeface="Calibri"/>
              </a:rPr>
              <a:t>Оценка = 0,3 × доход + 0,4 × прибыль + 0,3 × репутация</a:t>
            </a:r>
          </a:p>
          <a:p>
            <a:pPr algn="l">
              <a:spcAft>
                <a:spcPts val="300"/>
              </a:spcAft>
            </a:pPr>
            <a:r>
              <a:rPr lang="ru-RU" sz="1400" b="0" i="0" dirty="0">
                <a:solidFill>
                  <a:srgbClr val="475569"/>
                </a:solidFill>
                <a:latin typeface="Calibri"/>
              </a:rPr>
              <a:t>Числа 0,3; 0,4; 0,3 вес каждого фактора вместе дают 1</a:t>
            </a:r>
            <a:r>
              <a:rPr lang="en-US" sz="1400" b="0" i="0" dirty="0">
                <a:solidFill>
                  <a:srgbClr val="475569"/>
                </a:solidFill>
                <a:latin typeface="Calibri"/>
              </a:rPr>
              <a:t>.</a:t>
            </a:r>
            <a:endParaRPr lang="ru-RU" sz="1400" b="0" i="0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6" name="Rounded Rectangle"/>
          <p:cNvSpPr/>
          <p:nvPr/>
        </p:nvSpPr>
        <p:spPr>
          <a:xfrm>
            <a:off x="457200" y="2423160"/>
            <a:ext cx="4023360" cy="1874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"/>
          <p:cNvSpPr txBox="1"/>
          <p:nvPr/>
        </p:nvSpPr>
        <p:spPr>
          <a:xfrm>
            <a:off x="621792" y="2514600"/>
            <a:ext cx="37033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lang="ru-RU" sz="1600" b="1" i="0">
                <a:solidFill>
                  <a:srgbClr val="0E7490"/>
                </a:solidFill>
                <a:latin typeface="Calibri"/>
              </a:rPr>
              <a:t>Заказ клиента (5; 5; 5)</a:t>
            </a:r>
          </a:p>
          <a:p>
            <a:pPr algn="l">
              <a:spcAft>
                <a:spcPts val="300"/>
              </a:spcAft>
            </a:pPr>
            <a:r>
              <a:rPr lang="ru-RU" sz="1400" b="0" i="0">
                <a:solidFill>
                  <a:srgbClr val="1E293B"/>
                </a:solidFill>
                <a:latin typeface="Calibri"/>
              </a:rPr>
              <a:t>0,3 × 5 — доход = 1,5</a:t>
            </a:r>
          </a:p>
          <a:p>
            <a:pPr algn="l">
              <a:spcAft>
                <a:spcPts val="300"/>
              </a:spcAft>
            </a:pPr>
            <a:r>
              <a:rPr lang="ru-RU" sz="1400" b="0" i="0">
                <a:solidFill>
                  <a:srgbClr val="1E293B"/>
                </a:solidFill>
                <a:latin typeface="Calibri"/>
              </a:rPr>
              <a:t>0,4 × 5 — прибыль = 2,0</a:t>
            </a:r>
          </a:p>
          <a:p>
            <a:pPr algn="l">
              <a:spcAft>
                <a:spcPts val="300"/>
              </a:spcAft>
            </a:pPr>
            <a:r>
              <a:rPr lang="ru-RU" sz="1400" b="0" i="0">
                <a:solidFill>
                  <a:srgbClr val="1E293B"/>
                </a:solidFill>
                <a:latin typeface="Calibri"/>
              </a:rPr>
              <a:t>0,3 × 5 — репутация = 1,5</a:t>
            </a:r>
          </a:p>
          <a:p>
            <a:pPr algn="l">
              <a:spcAft>
                <a:spcPts val="300"/>
              </a:spcAft>
            </a:pPr>
            <a:r>
              <a:rPr lang="ru-RU" sz="1600" b="1" i="0">
                <a:solidFill>
                  <a:srgbClr val="047857"/>
                </a:solidFill>
                <a:latin typeface="Calibri"/>
              </a:rPr>
              <a:t>1,5 + 2,0 + 1,5 = 5,0</a:t>
            </a:r>
          </a:p>
          <a:p>
            <a:pPr algn="l">
              <a:spcAft>
                <a:spcPts val="300"/>
              </a:spcAft>
            </a:pPr>
            <a:r>
              <a:rPr lang="ru-RU" sz="1400" b="1" i="0">
                <a:solidFill>
                  <a:srgbClr val="1E293B"/>
                </a:solidFill>
                <a:latin typeface="Calibri"/>
              </a:rPr>
              <a:t>Вывод: </a:t>
            </a:r>
            <a:r>
              <a:rPr lang="ru-RU" sz="1400" b="1" i="0">
                <a:solidFill>
                  <a:srgbClr val="047857"/>
                </a:solidFill>
                <a:latin typeface="Calibri"/>
              </a:rPr>
              <a:t>критично важный актив</a:t>
            </a:r>
          </a:p>
        </p:txBody>
      </p:sp>
      <p:sp>
        <p:nvSpPr>
          <p:cNvPr id="8" name="Rounded Rectangle"/>
          <p:cNvSpPr/>
          <p:nvPr/>
        </p:nvSpPr>
        <p:spPr>
          <a:xfrm>
            <a:off x="4663440" y="2423160"/>
            <a:ext cx="4023360" cy="1874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"/>
          <p:cNvSpPr txBox="1"/>
          <p:nvPr/>
        </p:nvSpPr>
        <p:spPr>
          <a:xfrm>
            <a:off x="4828032" y="2514600"/>
            <a:ext cx="37033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lang="ru-RU" sz="1600" b="1" i="0">
                <a:solidFill>
                  <a:srgbClr val="C2410C"/>
                </a:solidFill>
                <a:latin typeface="Calibri"/>
              </a:rPr>
              <a:t>Документ EDI (5; 5; 3)</a:t>
            </a:r>
          </a:p>
          <a:p>
            <a:pPr algn="l">
              <a:spcAft>
                <a:spcPts val="300"/>
              </a:spcAft>
            </a:pPr>
            <a:r>
              <a:rPr lang="ru-RU" sz="1400" b="0" i="0">
                <a:solidFill>
                  <a:srgbClr val="1E293B"/>
                </a:solidFill>
                <a:latin typeface="Calibri"/>
              </a:rPr>
              <a:t>0,3 × 5 — доход = 1,5</a:t>
            </a:r>
          </a:p>
          <a:p>
            <a:pPr algn="l">
              <a:spcAft>
                <a:spcPts val="300"/>
              </a:spcAft>
            </a:pPr>
            <a:r>
              <a:rPr lang="ru-RU" sz="1400" b="0" i="0">
                <a:solidFill>
                  <a:srgbClr val="1E293B"/>
                </a:solidFill>
                <a:latin typeface="Calibri"/>
              </a:rPr>
              <a:t>0,4 × 5 — прибыль = 2,0</a:t>
            </a:r>
          </a:p>
          <a:p>
            <a:pPr algn="l">
              <a:spcAft>
                <a:spcPts val="300"/>
              </a:spcAft>
            </a:pPr>
            <a:r>
              <a:rPr lang="ru-RU" sz="1400" b="0" i="0">
                <a:solidFill>
                  <a:srgbClr val="1E293B"/>
                </a:solidFill>
                <a:latin typeface="Calibri"/>
              </a:rPr>
              <a:t>0,3 × 3 — репутация = 0,9</a:t>
            </a:r>
          </a:p>
          <a:p>
            <a:pPr algn="l">
              <a:spcAft>
                <a:spcPts val="300"/>
              </a:spcAft>
            </a:pPr>
            <a:r>
              <a:rPr lang="ru-RU" sz="1600" b="1" i="0">
                <a:solidFill>
                  <a:srgbClr val="047857"/>
                </a:solidFill>
                <a:latin typeface="Calibri"/>
              </a:rPr>
              <a:t>1,5 + 2,0 + 0,9 = 4,4</a:t>
            </a:r>
          </a:p>
          <a:p>
            <a:pPr algn="l">
              <a:spcAft>
                <a:spcPts val="300"/>
              </a:spcAft>
            </a:pPr>
            <a:r>
              <a:rPr lang="ru-RU" sz="1400" b="1" i="0">
                <a:solidFill>
                  <a:srgbClr val="1E293B"/>
                </a:solidFill>
                <a:latin typeface="Calibri"/>
              </a:rPr>
              <a:t>Вывод: </a:t>
            </a:r>
            <a:r>
              <a:rPr lang="ru-RU" sz="1400" b="1" i="0">
                <a:solidFill>
                  <a:srgbClr val="047857"/>
                </a:solidFill>
                <a:latin typeface="Calibri"/>
              </a:rPr>
              <a:t>очень важный актив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457200" y="4434840"/>
            <a:ext cx="82296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lang="ru-RU" sz="1400" b="0" i="0" dirty="0">
                <a:solidFill>
                  <a:srgbClr val="475569"/>
                </a:solidFill>
                <a:latin typeface="Calibri"/>
              </a:rPr>
              <a:t>EDI электронный обмен документами между компаниями (Electronic Data </a:t>
            </a:r>
            <a:r>
              <a:rPr lang="ru-RU" sz="1400" b="0" i="0" dirty="0" err="1">
                <a:solidFill>
                  <a:srgbClr val="475569"/>
                </a:solidFill>
                <a:latin typeface="Calibri"/>
              </a:rPr>
              <a:t>Interchange</a:t>
            </a:r>
            <a:r>
              <a:rPr lang="ru-RU" sz="1400" b="0" i="0" dirty="0">
                <a:solidFill>
                  <a:srgbClr val="475569"/>
                </a:solidFill>
                <a:latin typeface="Calibri"/>
              </a:rPr>
              <a:t>). </a:t>
            </a:r>
            <a:r>
              <a:rPr lang="ru-RU" sz="1400" dirty="0">
                <a:solidFill>
                  <a:srgbClr val="475569"/>
                </a:solidFill>
                <a:latin typeface="Calibri"/>
              </a:rPr>
              <a:t>Д</a:t>
            </a:r>
            <a:r>
              <a:rPr lang="ru-RU" sz="1400" b="0" i="0" dirty="0">
                <a:solidFill>
                  <a:srgbClr val="475569"/>
                </a:solidFill>
                <a:latin typeface="Calibri"/>
              </a:rPr>
              <a:t>оход; прибыль; репутация.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Категории угроз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категорий: неактуальные для организации исключаются из оценки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08975"/>
            <a:ext cx="1965960" cy="669016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566928" y="1208975"/>
            <a:ext cx="1737360" cy="66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Нарушение интеллектуальной собственности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0" y="1208975"/>
            <a:ext cx="1965960" cy="669016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2670048" y="1208975"/>
            <a:ext cx="1737360" cy="66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Сбои поставщиков услуг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208975"/>
            <a:ext cx="1965960" cy="669016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4773168" y="1208975"/>
            <a:ext cx="1737360" cy="66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Шпионаж, незаконный доступ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66560" y="1208975"/>
            <a:ext cx="1965960" cy="669016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876288" y="1208975"/>
            <a:ext cx="1737360" cy="66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Силы природы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1996054"/>
            <a:ext cx="1965960" cy="669016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566928" y="1996054"/>
            <a:ext cx="1737360" cy="66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Человеческая ошибка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560320" y="1996054"/>
            <a:ext cx="1965960" cy="669016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2670048" y="1996054"/>
            <a:ext cx="1737360" cy="66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Информационный шантаж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1996054"/>
            <a:ext cx="1965960" cy="669016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4773168" y="1996054"/>
            <a:ext cx="1737360" cy="66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Саботаж и вандализм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766560" y="1996054"/>
            <a:ext cx="1965960" cy="669016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6876288" y="1996054"/>
            <a:ext cx="1737360" cy="66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Программные атаки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2783132"/>
            <a:ext cx="1965960" cy="669016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566928" y="2783132"/>
            <a:ext cx="1737360" cy="66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Отказ оборудования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560320" y="2783132"/>
            <a:ext cx="1965960" cy="669016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2670048" y="2783132"/>
            <a:ext cx="1737360" cy="66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Ошибки ПО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663440" y="2783132"/>
            <a:ext cx="1965960" cy="669016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4773168" y="2783132"/>
            <a:ext cx="1737360" cy="66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Устаревание технологий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766560" y="2783132"/>
            <a:ext cx="1965960" cy="669016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 txBox="1"/>
          <p:nvPr/>
        </p:nvSpPr>
        <p:spPr>
          <a:xfrm>
            <a:off x="6876288" y="2783132"/>
            <a:ext cx="1737360" cy="66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Кража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3688272"/>
            <a:ext cx="8229600" cy="472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ценки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угрозы: реальна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она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внутренняя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или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внешняя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вероятность атаки и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успеха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тяжесть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потерь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готовность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организации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стоимость защиты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25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7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62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12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37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625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875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2125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2375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2625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2875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3125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Оценка: вероятность × воздействие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spcAft>
                <a:spcPts val="400"/>
              </a:spcAft>
            </a:pPr>
            <a:r>
              <a:rPr lang="ru-RU" sz="1400" b="0" i="0">
                <a:solidFill>
                  <a:srgbClr val="475569"/>
                </a:solidFill>
                <a:latin typeface="Calibri"/>
              </a:rPr>
              <a:t>Риск = вероятность × воздействие: каждое число от 1 до 5, итог — от 1 до 25</a:t>
            </a:r>
          </a:p>
        </p:txBody>
      </p:sp>
      <p:sp>
        <p:nvSpPr>
          <p:cNvPr id="4" name="Text 2"/>
          <p:cNvSpPr/>
          <p:nvPr/>
        </p:nvSpPr>
        <p:spPr>
          <a:xfrm>
            <a:off x="868680" y="1203216"/>
            <a:ext cx="621792" cy="515632"/>
          </a:xfrm>
          <a:prstGeom prst="rect">
            <a:avLst/>
          </a:prstGeom>
          <a:solidFill>
            <a:srgbClr val="9A7B1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527048" y="1203216"/>
            <a:ext cx="621792" cy="515632"/>
          </a:xfrm>
          <a:prstGeom prst="rect">
            <a:avLst/>
          </a:prstGeom>
          <a:solidFill>
            <a:srgbClr val="B8671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85416" y="1203216"/>
            <a:ext cx="621792" cy="515632"/>
          </a:xfrm>
          <a:prstGeom prst="rect">
            <a:avLst/>
          </a:prstGeom>
          <a:solidFill>
            <a:srgbClr val="B83A2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843784" y="1203216"/>
            <a:ext cx="621792" cy="515632"/>
          </a:xfrm>
          <a:prstGeom prst="rect">
            <a:avLst/>
          </a:prstGeom>
          <a:solidFill>
            <a:srgbClr val="8E1A3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02152" y="1203216"/>
            <a:ext cx="621792" cy="515632"/>
          </a:xfrm>
          <a:prstGeom prst="rect">
            <a:avLst/>
          </a:prstGeom>
          <a:solidFill>
            <a:srgbClr val="8E1A3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749180"/>
            <a:ext cx="621792" cy="515632"/>
          </a:xfrm>
          <a:prstGeom prst="rect">
            <a:avLst/>
          </a:prstGeom>
          <a:solidFill>
            <a:srgbClr val="1F7A5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27048" y="1749180"/>
            <a:ext cx="621792" cy="515632"/>
          </a:xfrm>
          <a:prstGeom prst="rect">
            <a:avLst/>
          </a:prstGeom>
          <a:solidFill>
            <a:srgbClr val="9A7B1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85416" y="1749180"/>
            <a:ext cx="621792" cy="515632"/>
          </a:xfrm>
          <a:prstGeom prst="rect">
            <a:avLst/>
          </a:prstGeom>
          <a:solidFill>
            <a:srgbClr val="B8671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43784" y="1749180"/>
            <a:ext cx="621792" cy="515632"/>
          </a:xfrm>
          <a:prstGeom prst="rect">
            <a:avLst/>
          </a:prstGeom>
          <a:solidFill>
            <a:srgbClr val="B83A2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02152" y="1749180"/>
            <a:ext cx="621792" cy="515632"/>
          </a:xfrm>
          <a:prstGeom prst="rect">
            <a:avLst/>
          </a:prstGeom>
          <a:solidFill>
            <a:srgbClr val="8E1A3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2295144"/>
            <a:ext cx="621792" cy="515632"/>
          </a:xfrm>
          <a:prstGeom prst="rect">
            <a:avLst/>
          </a:prstGeom>
          <a:solidFill>
            <a:srgbClr val="1F7A5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27048" y="2295144"/>
            <a:ext cx="621792" cy="515632"/>
          </a:xfrm>
          <a:prstGeom prst="rect">
            <a:avLst/>
          </a:prstGeom>
          <a:solidFill>
            <a:srgbClr val="9A7B1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85416" y="2295144"/>
            <a:ext cx="621792" cy="515632"/>
          </a:xfrm>
          <a:prstGeom prst="rect">
            <a:avLst/>
          </a:prstGeom>
          <a:solidFill>
            <a:srgbClr val="9A7B1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43784" y="2295144"/>
            <a:ext cx="621792" cy="515632"/>
          </a:xfrm>
          <a:prstGeom prst="rect">
            <a:avLst/>
          </a:prstGeom>
          <a:solidFill>
            <a:srgbClr val="B8671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02152" y="2295144"/>
            <a:ext cx="621792" cy="515632"/>
          </a:xfrm>
          <a:prstGeom prst="rect">
            <a:avLst/>
          </a:prstGeom>
          <a:solidFill>
            <a:srgbClr val="B83A2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2841107"/>
            <a:ext cx="621792" cy="515632"/>
          </a:xfrm>
          <a:prstGeom prst="rect">
            <a:avLst/>
          </a:prstGeom>
          <a:solidFill>
            <a:srgbClr val="1F7A5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27048" y="2841107"/>
            <a:ext cx="621792" cy="515632"/>
          </a:xfrm>
          <a:prstGeom prst="rect">
            <a:avLst/>
          </a:prstGeom>
          <a:solidFill>
            <a:srgbClr val="1F7A5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185416" y="2841107"/>
            <a:ext cx="621792" cy="515632"/>
          </a:xfrm>
          <a:prstGeom prst="rect">
            <a:avLst/>
          </a:prstGeom>
          <a:solidFill>
            <a:srgbClr val="9A7B1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843784" y="2841107"/>
            <a:ext cx="621792" cy="515632"/>
          </a:xfrm>
          <a:prstGeom prst="rect">
            <a:avLst/>
          </a:prstGeom>
          <a:solidFill>
            <a:srgbClr val="9A7B1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502152" y="2841107"/>
            <a:ext cx="621792" cy="515632"/>
          </a:xfrm>
          <a:prstGeom prst="rect">
            <a:avLst/>
          </a:prstGeom>
          <a:solidFill>
            <a:srgbClr val="B8671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3387071"/>
            <a:ext cx="621792" cy="515632"/>
          </a:xfrm>
          <a:prstGeom prst="rect">
            <a:avLst/>
          </a:prstGeom>
          <a:solidFill>
            <a:srgbClr val="1F7A5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27048" y="3387071"/>
            <a:ext cx="621792" cy="515632"/>
          </a:xfrm>
          <a:prstGeom prst="rect">
            <a:avLst/>
          </a:prstGeom>
          <a:solidFill>
            <a:srgbClr val="1F7A5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185416" y="3387071"/>
            <a:ext cx="621792" cy="515632"/>
          </a:xfrm>
          <a:prstGeom prst="rect">
            <a:avLst/>
          </a:prstGeom>
          <a:solidFill>
            <a:srgbClr val="1F7A5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843784" y="3387071"/>
            <a:ext cx="621792" cy="515632"/>
          </a:xfrm>
          <a:prstGeom prst="rect">
            <a:avLst/>
          </a:prstGeom>
          <a:solidFill>
            <a:srgbClr val="1F7A5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502152" y="3387071"/>
            <a:ext cx="621792" cy="515632"/>
          </a:xfrm>
          <a:prstGeom prst="rect">
            <a:avLst/>
          </a:prstGeom>
          <a:solidFill>
            <a:srgbClr val="9A7B1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" y="3970949"/>
            <a:ext cx="3291840" cy="18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Вероятность  →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 rot="16200000">
            <a:off x="-502920" y="2492297"/>
            <a:ext cx="1737360" cy="18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Воздействие  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480560" y="1207008"/>
            <a:ext cx="4206240" cy="173736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4645152" y="1307592"/>
            <a:ext cx="38770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Шкала воздействия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645152" y="1600200"/>
            <a:ext cx="38770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незначительное: нет сбоя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малое: сбой в минуты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среднее: сбой в часы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существенное: сбой в сутки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тяжёлое: сбой в дни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480560" y="3063240"/>
            <a:ext cx="4206240" cy="105156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4645152" y="3154680"/>
            <a:ext cx="38770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Неопределённость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4645152" y="3339345"/>
            <a:ext cx="3877056" cy="711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spcAft>
                <a:spcPts val="0"/>
              </a:spcAft>
            </a:pPr>
            <a:r>
              <a:rPr lang="ru-RU" sz="1400" b="0" i="0">
                <a:solidFill>
                  <a:srgbClr val="1E293B"/>
                </a:solidFill>
                <a:latin typeface="Calibri"/>
              </a:rPr>
              <a:t>Данные точны на 90%: 15 × 0,9 = 13,5 и 15 × 1,1 = 16,5. Значит, риск где-то от 13,5 до 16,5 — решает менеджер.</a:t>
            </a:r>
          </a:p>
        </p:txBody>
      </p:sp>
      <p:sp>
        <p:nvSpPr>
          <p:cNvPr id="37" name="TextBox"/>
          <p:cNvSpPr txBox="1"/>
          <p:nvPr/>
        </p:nvSpPr>
        <p:spPr>
          <a:xfrm>
            <a:off x="457200" y="4315968"/>
            <a:ext cx="8229600" cy="6976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ru-RU" sz="1400" b="1" i="0" dirty="0">
                <a:solidFill>
                  <a:srgbClr val="1E293B"/>
                </a:solidFill>
                <a:latin typeface="Calibri"/>
              </a:rPr>
              <a:t>Что считаем: </a:t>
            </a:r>
            <a:r>
              <a:rPr lang="ru-RU" sz="1400" b="0" i="0" dirty="0">
                <a:solidFill>
                  <a:srgbClr val="1E293B"/>
                </a:solidFill>
                <a:latin typeface="Calibri"/>
              </a:rPr>
              <a:t>насколько серьёзен риск — одним числом от 1 до 25</a:t>
            </a:r>
          </a:p>
          <a:p>
            <a:pPr algn="l">
              <a:spcAft>
                <a:spcPts val="200"/>
              </a:spcAft>
            </a:pPr>
            <a:r>
              <a:rPr lang="ru-RU" sz="1400" b="1" i="0" dirty="0">
                <a:solidFill>
                  <a:srgbClr val="0E7490"/>
                </a:solidFill>
                <a:latin typeface="Calibri"/>
              </a:rPr>
              <a:t>Риск = Вер × Воз</a:t>
            </a:r>
            <a:r>
              <a:rPr lang="ru-RU" sz="1400" b="0" i="0" dirty="0">
                <a:solidFill>
                  <a:srgbClr val="475569"/>
                </a:solidFill>
                <a:latin typeface="Calibri"/>
              </a:rPr>
              <a:t>, где Вер — вероятность (1–5), Воз — воздействие (1–5)</a:t>
            </a:r>
          </a:p>
          <a:p>
            <a:pPr algn="l">
              <a:spcAft>
                <a:spcPts val="200"/>
              </a:spcAft>
            </a:pPr>
            <a:r>
              <a:rPr lang="ru-RU" sz="1400" b="0" i="0" dirty="0">
                <a:solidFill>
                  <a:srgbClr val="1E293B"/>
                </a:solidFill>
                <a:latin typeface="Calibri"/>
              </a:rPr>
              <a:t>Пример: 3 (вероятность) × 5 (воздействие) = 15</a:t>
            </a:r>
            <a:r>
              <a:rPr lang="ru-RU" sz="1400" b="1" i="0" dirty="0">
                <a:solidFill>
                  <a:srgbClr val="B83A2B"/>
                </a:solidFill>
                <a:latin typeface="Calibri"/>
              </a:rPr>
              <a:t> — риск серьёзный, нужно решение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97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94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91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88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48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582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679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776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873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9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067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164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261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358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455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552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649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746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843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9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2037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2134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2231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2328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2425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2522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2619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2716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2813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291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3007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3104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3201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3298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Рейтинг рисков: пример из модуля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Актив: заказы клиентов через SSL и клиентские запросы по e-mail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141216033"/>
              </p:ext>
            </p:extLst>
          </p:nvPr>
        </p:nvGraphicFramePr>
        <p:xfrm>
          <a:off x="365760" y="1168146"/>
          <a:ext cx="5394960" cy="29923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207008"/>
            <a:ext cx="2743200" cy="1399032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08192" y="1315821"/>
            <a:ext cx="2414016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риск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108192" y="1611172"/>
            <a:ext cx="2414016" cy="917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Отказ веб-сервера или ISP: вероятность 4 × воздействие 5 = 20. Нужен более мощный сервер и надёжный ISP.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943600" y="2722626"/>
            <a:ext cx="2743200" cy="136017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08192" y="2831439"/>
            <a:ext cx="2414016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 оценки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108192" y="3058211"/>
            <a:ext cx="2414016" cy="878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Лист активов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Взвешенные таблицы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Лист TVA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Лист рейтинга рисков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стратегии обработки риска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Выбирается для каждого неприемлемого риска на основе оценки и затрат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50852"/>
            <a:ext cx="1965960" cy="27432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621792" y="1362456"/>
            <a:ext cx="1636776" cy="279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604774"/>
            <a:ext cx="1636776" cy="1897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Контроли снижают вероятность успешной атаки. Предпочтительный вариант.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М</a:t>
            </a:r>
            <a:r>
              <a:rPr lang="ru-RU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ежсетевые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</a:t>
            </a:r>
            <a:r>
              <a:rPr lang="ru-RU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краны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Backup-</a:t>
            </a:r>
            <a:r>
              <a:rPr lang="ru-RU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ы</a:t>
            </a:r>
            <a:endParaRPr lang="en-US" sz="1400" dirty="0"/>
          </a:p>
        </p:txBody>
      </p:sp>
      <p:sp>
        <p:nvSpPr>
          <p:cNvPr id="7" name="Shape 6"/>
          <p:cNvSpPr/>
          <p:nvPr/>
        </p:nvSpPr>
        <p:spPr>
          <a:xfrm>
            <a:off x="2560320" y="1250852"/>
            <a:ext cx="1965960" cy="27432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7"/>
          <p:cNvSpPr txBox="1"/>
          <p:nvPr/>
        </p:nvSpPr>
        <p:spPr>
          <a:xfrm>
            <a:off x="2724912" y="1362456"/>
            <a:ext cx="1636776" cy="279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Передача</a:t>
            </a:r>
            <a:endParaRPr lang="en-US" sz="1700" dirty="0"/>
          </a:p>
        </p:txBody>
      </p:sp>
      <p:sp>
        <p:nvSpPr>
          <p:cNvPr id="9" name="Text 8"/>
          <p:cNvSpPr txBox="1"/>
          <p:nvPr/>
        </p:nvSpPr>
        <p:spPr>
          <a:xfrm>
            <a:off x="2724912" y="1604774"/>
            <a:ext cx="1636776" cy="1897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Перенос риска на другую сторону: страхование, аутсорсинг, SLA (соглашение об уровне услуг).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хостинг у провайдера</a:t>
            </a:r>
            <a:endParaRPr lang="en-US" sz="1400" dirty="0"/>
          </a:p>
        </p:txBody>
      </p:sp>
      <p:sp>
        <p:nvSpPr>
          <p:cNvPr id="10" name="Shape 10"/>
          <p:cNvSpPr/>
          <p:nvPr/>
        </p:nvSpPr>
        <p:spPr>
          <a:xfrm>
            <a:off x="4663440" y="1250852"/>
            <a:ext cx="1965960" cy="27432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11"/>
          <p:cNvSpPr txBox="1"/>
          <p:nvPr/>
        </p:nvSpPr>
        <p:spPr>
          <a:xfrm>
            <a:off x="4828032" y="1362456"/>
            <a:ext cx="1636776" cy="279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Принятие</a:t>
            </a:r>
            <a:endParaRPr lang="en-US" sz="1700" dirty="0"/>
          </a:p>
        </p:txBody>
      </p:sp>
      <p:sp>
        <p:nvSpPr>
          <p:cNvPr id="12" name="Text 12"/>
          <p:cNvSpPr txBox="1"/>
          <p:nvPr/>
        </p:nvSpPr>
        <p:spPr>
          <a:xfrm>
            <a:off x="4828032" y="1665380"/>
            <a:ext cx="1636776" cy="1897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Осознанное решение жить с остаточным риском после оценки и CBA (анализа затрат и выгод).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устаревший публичный сервер</a:t>
            </a:r>
            <a:endParaRPr lang="en-US" sz="1400" dirty="0"/>
          </a:p>
        </p:txBody>
      </p:sp>
      <p:sp>
        <p:nvSpPr>
          <p:cNvPr id="13" name="Shape 14"/>
          <p:cNvSpPr/>
          <p:nvPr/>
        </p:nvSpPr>
        <p:spPr>
          <a:xfrm>
            <a:off x="6766560" y="1250852"/>
            <a:ext cx="1965960" cy="27432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5"/>
          <p:cNvSpPr txBox="1"/>
          <p:nvPr/>
        </p:nvSpPr>
        <p:spPr>
          <a:xfrm>
            <a:off x="6931152" y="1362456"/>
            <a:ext cx="1636776" cy="279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Прекращение</a:t>
            </a:r>
            <a:endParaRPr lang="en-US" sz="1700" dirty="0"/>
          </a:p>
        </p:txBody>
      </p:sp>
      <p:sp>
        <p:nvSpPr>
          <p:cNvPr id="15" name="Text 16"/>
          <p:cNvSpPr txBox="1"/>
          <p:nvPr/>
        </p:nvSpPr>
        <p:spPr>
          <a:xfrm>
            <a:off x="6931152" y="1665380"/>
            <a:ext cx="1636776" cy="1897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актива из эксплуатации или отключение от угроз.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защита дороже самого актива</a:t>
            </a:r>
            <a:endParaRPr lang="en-US" sz="1400" dirty="0"/>
          </a:p>
        </p:txBody>
      </p:sp>
      <p:sp>
        <p:nvSpPr>
          <p:cNvPr id="16" name="Text 18"/>
          <p:cNvSpPr txBox="1"/>
          <p:nvPr/>
        </p:nvSpPr>
        <p:spPr>
          <a:xfrm>
            <a:off x="399673" y="4160520"/>
            <a:ext cx="8568714" cy="318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Принятие без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анализа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это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не стратегия, а пренебрежение.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Прекращение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всегда осознанное бизнес-решение.</a:t>
            </a:r>
            <a:endParaRPr lang="en-US" sz="1400" dirty="0"/>
          </a:p>
        </p:txBody>
      </p:sp>
    </p:spTree>
  </p:cSld>
  <p:clrMapOvr>
    <a:masterClrMapping/>
  </p:clrMapOvr>
  <p:transition spd="med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и передача риска: детали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51760" cy="2361235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21792" y="1161750"/>
            <a:ext cx="2322576" cy="275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Снижение: 3 подхода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460840"/>
            <a:ext cx="2322576" cy="1873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spcAft>
                <a:spcPts val="400"/>
              </a:spcAft>
            </a:pPr>
            <a:r>
              <a:rPr lang="ru-RU" sz="1400" b="0" i="0" dirty="0">
                <a:solidFill>
                  <a:srgbClr val="1E293B"/>
                </a:solidFill>
                <a:latin typeface="Calibri"/>
              </a:rPr>
              <a:t>Политика: обязывает соблюдать процедуры</a:t>
            </a:r>
          </a:p>
          <a:p>
            <a:pPr algn="l">
              <a:spcAft>
                <a:spcPts val="400"/>
              </a:spcAft>
            </a:pPr>
            <a:r>
              <a:rPr lang="ru-RU" sz="1400" b="0" i="0" dirty="0">
                <a:solidFill>
                  <a:srgbClr val="1E293B"/>
                </a:solidFill>
                <a:latin typeface="Calibri"/>
              </a:rPr>
              <a:t>SETA </a:t>
            </a:r>
            <a:r>
              <a:rPr lang="en-US" sz="1400" b="0" i="0" dirty="0">
                <a:solidFill>
                  <a:srgbClr val="1E293B"/>
                </a:solidFill>
                <a:latin typeface="Calibri"/>
              </a:rPr>
              <a:t>-</a:t>
            </a:r>
            <a:r>
              <a:rPr lang="ru-RU" sz="1400" b="0" i="0" dirty="0">
                <a:solidFill>
                  <a:srgbClr val="1E293B"/>
                </a:solidFill>
                <a:latin typeface="Calibri"/>
              </a:rPr>
              <a:t> обучение и осведомлённость сотрудников</a:t>
            </a:r>
          </a:p>
          <a:p>
            <a:pPr algn="l">
              <a:spcAft>
                <a:spcPts val="400"/>
              </a:spcAft>
            </a:pPr>
            <a:r>
              <a:rPr lang="ru-RU" sz="1400" b="0" i="0" dirty="0">
                <a:solidFill>
                  <a:srgbClr val="1E293B"/>
                </a:solidFill>
                <a:latin typeface="Calibri"/>
              </a:rPr>
              <a:t>Технологии: IDS и IPS </a:t>
            </a:r>
            <a:r>
              <a:rPr lang="en-US" sz="1400" b="0" i="0" dirty="0">
                <a:solidFill>
                  <a:srgbClr val="1E293B"/>
                </a:solidFill>
                <a:latin typeface="Calibri"/>
              </a:rPr>
              <a:t>-</a:t>
            </a:r>
            <a:r>
              <a:rPr lang="ru-RU" sz="1400" b="0" i="0" dirty="0">
                <a:solidFill>
                  <a:srgbClr val="1E293B"/>
                </a:solidFill>
                <a:latin typeface="Calibri"/>
              </a:rPr>
              <a:t> обнаружение и предотвращение вторжений</a:t>
            </a:r>
          </a:p>
        </p:txBody>
      </p:sp>
      <p:sp>
        <p:nvSpPr>
          <p:cNvPr id="6" name="Shape 4"/>
          <p:cNvSpPr/>
          <p:nvPr/>
        </p:nvSpPr>
        <p:spPr>
          <a:xfrm>
            <a:off x="3246120" y="1051560"/>
            <a:ext cx="2651760" cy="2361235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3410712" y="1161750"/>
            <a:ext cx="2322576" cy="275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SLA: элементы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410712" y="1460840"/>
            <a:ext cx="2322576" cy="1873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Категория услуги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Допустимое качество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 и формула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Кредиты и штрафы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Частота измерения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051560"/>
            <a:ext cx="2651760" cy="2361235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199632" y="1161750"/>
            <a:ext cx="2322576" cy="275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Этапы создания SLA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199632" y="1460840"/>
            <a:ext cx="2322576" cy="1873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Определить цели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Определить требования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Задать метрики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Установить подотчётность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530857"/>
            <a:ext cx="8229600" cy="62966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21792" y="3641048"/>
            <a:ext cx="7900416" cy="275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Принятие допустимо, </a:t>
            </a:r>
            <a:r>
              <a:rPr lang="en-US" sz="1400" b="1" dirty="0" err="1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</a:t>
            </a:r>
            <a:r>
              <a:rPr lang="ru-RU" sz="14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3940138"/>
            <a:ext cx="7900416" cy="141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spcAft>
                <a:spcPts val="400"/>
              </a:spcAft>
            </a:pPr>
            <a:r>
              <a:rPr lang="ru-RU" sz="1400" b="0" i="0">
                <a:solidFill>
                  <a:srgbClr val="1E293B"/>
                </a:solidFill>
                <a:latin typeface="Calibri"/>
              </a:rPr>
              <a:t>определены риск, вероятность, ущерб; анализ затрат и выгод (CBA) показал: защита не оправдана.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457200" y="4526280"/>
            <a:ext cx="82296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lang="ru-RU" sz="1400" b="0" i="0" dirty="0">
                <a:solidFill>
                  <a:srgbClr val="475569"/>
                </a:solidFill>
                <a:latin typeface="Calibri"/>
              </a:rPr>
              <a:t>SETA — Security Education, Training, Awareness · IDS — Intrusion Detection System · IPS — Intrusion Prevention System · SLA — соглашение об уровне услуг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затрат и выгод (CBA)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Количественная оценка: сколько стоит потерять актив и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защитить</a:t>
            </a:r>
            <a:endParaRPr lang="en-US" sz="1400" dirty="0"/>
          </a:p>
        </p:txBody>
      </p:sp>
      <p:sp>
        <p:nvSpPr>
          <p:cNvPr id="4" name="Rounded Rectangle"/>
          <p:cNvSpPr/>
          <p:nvPr/>
        </p:nvSpPr>
        <p:spPr>
          <a:xfrm>
            <a:off x="457200" y="1170432"/>
            <a:ext cx="2651760" cy="2852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"/>
          <p:cNvSpPr txBox="1"/>
          <p:nvPr/>
        </p:nvSpPr>
        <p:spPr>
          <a:xfrm>
            <a:off x="594360" y="1261872"/>
            <a:ext cx="237744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lang="ru-RU" sz="2000" b="1" i="0">
                <a:solidFill>
                  <a:srgbClr val="0E7490"/>
                </a:solidFill>
                <a:latin typeface="Calibri"/>
              </a:rPr>
              <a:t>SLE</a:t>
            </a:r>
          </a:p>
          <a:p>
            <a:pPr algn="l">
              <a:spcAft>
                <a:spcPts val="300"/>
              </a:spcAft>
            </a:pPr>
            <a:r>
              <a:rPr lang="ru-RU" sz="1400" b="0" i="0">
                <a:solidFill>
                  <a:srgbClr val="475569"/>
                </a:solidFill>
                <a:latin typeface="Calibri"/>
              </a:rPr>
              <a:t>Single Loss Expectancy</a:t>
            </a:r>
          </a:p>
          <a:p>
            <a:pPr algn="l">
              <a:spcAft>
                <a:spcPts val="300"/>
              </a:spcAft>
            </a:pPr>
            <a:r>
              <a:rPr lang="ru-RU" sz="1400" b="1" i="0">
                <a:solidFill>
                  <a:srgbClr val="1E293B"/>
                </a:solidFill>
                <a:latin typeface="Calibri"/>
              </a:rPr>
              <a:t>Потери за одну атаку</a:t>
            </a:r>
          </a:p>
          <a:p>
            <a:pPr algn="l">
              <a:spcAft>
                <a:spcPts val="300"/>
              </a:spcAft>
            </a:pPr>
            <a:r>
              <a:rPr lang="ru-RU" sz="1600" b="1" i="0">
                <a:solidFill>
                  <a:srgbClr val="0E7490"/>
                </a:solidFill>
                <a:latin typeface="Calibri"/>
              </a:rPr>
              <a:t>SLE = AV × EF</a:t>
            </a:r>
          </a:p>
          <a:p>
            <a:pPr algn="l">
              <a:spcAft>
                <a:spcPts val="300"/>
              </a:spcAft>
            </a:pPr>
            <a:r>
              <a:rPr lang="ru-RU" sz="1400" b="0" i="0">
                <a:solidFill>
                  <a:srgbClr val="475569"/>
                </a:solidFill>
                <a:latin typeface="Calibri"/>
              </a:rPr>
              <a:t>AV — цена актива, EF — какую долю теряем</a:t>
            </a:r>
          </a:p>
          <a:p>
            <a:pPr algn="l">
              <a:spcAft>
                <a:spcPts val="300"/>
              </a:spcAft>
            </a:pPr>
            <a:r>
              <a:rPr lang="ru-RU" sz="1400" b="0" i="0">
                <a:solidFill>
                  <a:srgbClr val="1E293B"/>
                </a:solidFill>
                <a:latin typeface="Calibri"/>
              </a:rPr>
              <a:t>1 000 000 $ — цена актива × 10% — доля потери</a:t>
            </a:r>
          </a:p>
          <a:p>
            <a:pPr algn="l">
              <a:spcAft>
                <a:spcPts val="300"/>
              </a:spcAft>
            </a:pPr>
            <a:r>
              <a:rPr lang="ru-RU" sz="1600" b="1" i="0">
                <a:solidFill>
                  <a:srgbClr val="047857"/>
                </a:solidFill>
                <a:latin typeface="Calibri"/>
              </a:rPr>
              <a:t>= 100 000 $ — потери за одну атаку</a:t>
            </a:r>
          </a:p>
        </p:txBody>
      </p:sp>
      <p:sp>
        <p:nvSpPr>
          <p:cNvPr id="6" name="Rounded Rectangle"/>
          <p:cNvSpPr/>
          <p:nvPr/>
        </p:nvSpPr>
        <p:spPr>
          <a:xfrm>
            <a:off x="3246120" y="1170432"/>
            <a:ext cx="2651760" cy="2852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"/>
          <p:cNvSpPr txBox="1"/>
          <p:nvPr/>
        </p:nvSpPr>
        <p:spPr>
          <a:xfrm>
            <a:off x="3383280" y="1261872"/>
            <a:ext cx="237744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lang="ru-RU" sz="2000" b="1" i="0">
                <a:solidFill>
                  <a:srgbClr val="C2410C"/>
                </a:solidFill>
                <a:latin typeface="Calibri"/>
              </a:rPr>
              <a:t>ARO</a:t>
            </a:r>
          </a:p>
          <a:p>
            <a:pPr algn="l">
              <a:spcAft>
                <a:spcPts val="300"/>
              </a:spcAft>
            </a:pPr>
            <a:r>
              <a:rPr lang="ru-RU" sz="1400" b="0" i="0">
                <a:solidFill>
                  <a:srgbClr val="475569"/>
                </a:solidFill>
                <a:latin typeface="Calibri"/>
              </a:rPr>
              <a:t>Annualized Rate of Occurrence</a:t>
            </a:r>
          </a:p>
          <a:p>
            <a:pPr algn="l">
              <a:spcAft>
                <a:spcPts val="300"/>
              </a:spcAft>
            </a:pPr>
            <a:r>
              <a:rPr lang="ru-RU" sz="1400" b="1" i="0">
                <a:solidFill>
                  <a:srgbClr val="1E293B"/>
                </a:solidFill>
                <a:latin typeface="Calibri"/>
              </a:rPr>
              <a:t>Сколько атак ждём за год</a:t>
            </a:r>
          </a:p>
          <a:p>
            <a:pPr algn="l">
              <a:spcAft>
                <a:spcPts val="300"/>
              </a:spcAft>
            </a:pPr>
            <a:r>
              <a:rPr lang="ru-RU" sz="1600" b="1" i="0">
                <a:solidFill>
                  <a:srgbClr val="C2410C"/>
                </a:solidFill>
                <a:latin typeface="Calibri"/>
              </a:rPr>
              <a:t>ARO = 1 ÷ лет между атаками</a:t>
            </a:r>
          </a:p>
          <a:p>
            <a:pPr algn="l">
              <a:spcAft>
                <a:spcPts val="300"/>
              </a:spcAft>
            </a:pPr>
            <a:r>
              <a:rPr lang="ru-RU" sz="1400" b="0" i="0">
                <a:solidFill>
                  <a:srgbClr val="475569"/>
                </a:solidFill>
                <a:latin typeface="Calibri"/>
              </a:rPr>
              <a:t>Лет между атаками — сколько лет проходит до новой атаки</a:t>
            </a:r>
          </a:p>
          <a:p>
            <a:pPr algn="l">
              <a:spcAft>
                <a:spcPts val="300"/>
              </a:spcAft>
            </a:pPr>
            <a:r>
              <a:rPr lang="ru-RU" sz="1400" b="0" i="0">
                <a:solidFill>
                  <a:srgbClr val="1E293B"/>
                </a:solidFill>
                <a:latin typeface="Calibri"/>
              </a:rPr>
              <a:t>1 атака ÷ 2 года — атака раз в 2 года</a:t>
            </a:r>
          </a:p>
          <a:p>
            <a:pPr algn="l">
              <a:spcAft>
                <a:spcPts val="300"/>
              </a:spcAft>
            </a:pPr>
            <a:r>
              <a:rPr lang="ru-RU" sz="1600" b="1" i="0">
                <a:solidFill>
                  <a:srgbClr val="047857"/>
                </a:solidFill>
                <a:latin typeface="Calibri"/>
              </a:rPr>
              <a:t>= 0,5 атаки в год</a:t>
            </a:r>
          </a:p>
        </p:txBody>
      </p:sp>
      <p:sp>
        <p:nvSpPr>
          <p:cNvPr id="8" name="Rounded Rectangle"/>
          <p:cNvSpPr/>
          <p:nvPr/>
        </p:nvSpPr>
        <p:spPr>
          <a:xfrm>
            <a:off x="6035040" y="1170432"/>
            <a:ext cx="2651760" cy="2852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"/>
          <p:cNvSpPr txBox="1"/>
          <p:nvPr/>
        </p:nvSpPr>
        <p:spPr>
          <a:xfrm>
            <a:off x="6172200" y="1261872"/>
            <a:ext cx="237744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lang="ru-RU" sz="2000" b="1" i="0">
                <a:solidFill>
                  <a:srgbClr val="6D28D9"/>
                </a:solidFill>
                <a:latin typeface="Calibri"/>
              </a:rPr>
              <a:t>ALE</a:t>
            </a:r>
          </a:p>
          <a:p>
            <a:pPr algn="l">
              <a:spcAft>
                <a:spcPts val="300"/>
              </a:spcAft>
            </a:pPr>
            <a:r>
              <a:rPr lang="ru-RU" sz="1400" b="0" i="0">
                <a:solidFill>
                  <a:srgbClr val="475569"/>
                </a:solidFill>
                <a:latin typeface="Calibri"/>
              </a:rPr>
              <a:t>Annualized Loss Expectancy</a:t>
            </a:r>
          </a:p>
          <a:p>
            <a:pPr algn="l">
              <a:spcAft>
                <a:spcPts val="300"/>
              </a:spcAft>
            </a:pPr>
            <a:r>
              <a:rPr lang="ru-RU" sz="1400" b="1" i="0">
                <a:solidFill>
                  <a:srgbClr val="1E293B"/>
                </a:solidFill>
                <a:latin typeface="Calibri"/>
              </a:rPr>
              <a:t>Потери за год</a:t>
            </a:r>
          </a:p>
          <a:p>
            <a:pPr algn="l">
              <a:spcAft>
                <a:spcPts val="300"/>
              </a:spcAft>
            </a:pPr>
            <a:r>
              <a:rPr lang="ru-RU" sz="1600" b="1" i="0">
                <a:solidFill>
                  <a:srgbClr val="6D28D9"/>
                </a:solidFill>
                <a:latin typeface="Calibri"/>
              </a:rPr>
              <a:t>ALE = SLE × ARO</a:t>
            </a:r>
          </a:p>
          <a:p>
            <a:pPr algn="l">
              <a:spcAft>
                <a:spcPts val="300"/>
              </a:spcAft>
            </a:pPr>
            <a:r>
              <a:rPr lang="ru-RU" sz="1400" b="0" i="0">
                <a:solidFill>
                  <a:srgbClr val="475569"/>
                </a:solidFill>
                <a:latin typeface="Calibri"/>
              </a:rPr>
              <a:t>SLE — потери за одну атаку, ARO — атак в год</a:t>
            </a:r>
          </a:p>
          <a:p>
            <a:pPr algn="l">
              <a:spcAft>
                <a:spcPts val="300"/>
              </a:spcAft>
            </a:pPr>
            <a:r>
              <a:rPr lang="ru-RU" sz="1400" b="0" i="0">
                <a:solidFill>
                  <a:srgbClr val="1E293B"/>
                </a:solidFill>
                <a:latin typeface="Calibri"/>
              </a:rPr>
              <a:t>100 000 $ — потери за атаку × 0,5 — атак в год</a:t>
            </a:r>
          </a:p>
          <a:p>
            <a:pPr algn="l">
              <a:spcAft>
                <a:spcPts val="300"/>
              </a:spcAft>
            </a:pPr>
            <a:r>
              <a:rPr lang="ru-RU" sz="1600" b="1" i="0">
                <a:solidFill>
                  <a:srgbClr val="047857"/>
                </a:solidFill>
                <a:latin typeface="Calibri"/>
              </a:rPr>
              <a:t>= 50 000 $ — потери за год без защиты</a:t>
            </a:r>
          </a:p>
        </p:txBody>
      </p:sp>
      <p:sp>
        <p:nvSpPr>
          <p:cNvPr id="10" name="Rounded Rectangle"/>
          <p:cNvSpPr/>
          <p:nvPr/>
        </p:nvSpPr>
        <p:spPr>
          <a:xfrm>
            <a:off x="457200" y="4114800"/>
            <a:ext cx="8229600" cy="384048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"/>
          <p:cNvSpPr txBox="1"/>
          <p:nvPr/>
        </p:nvSpPr>
        <p:spPr>
          <a:xfrm>
            <a:off x="594360" y="4187952"/>
            <a:ext cx="7955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lang="ru-RU" sz="1400" b="1" i="0" dirty="0">
                <a:solidFill>
                  <a:srgbClr val="047857"/>
                </a:solidFill>
                <a:latin typeface="Calibri"/>
              </a:rPr>
              <a:t>CBA</a:t>
            </a:r>
            <a:r>
              <a:rPr lang="ru-RU" sz="1400" b="0" i="0" dirty="0">
                <a:solidFill>
                  <a:srgbClr val="1E293B"/>
                </a:solidFill>
                <a:latin typeface="Calibri"/>
              </a:rPr>
              <a:t> — польза контроля за вычетом затрат: ALE до − ALE после − ACS (разбор на следующих слайдах)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457200" y="4572000"/>
            <a:ext cx="82296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lang="ru-RU" sz="1400" b="0" i="0" dirty="0">
                <a:solidFill>
                  <a:srgbClr val="475569"/>
                </a:solidFill>
                <a:latin typeface="Calibri"/>
              </a:rPr>
              <a:t>AV — цена актива (Asset Value) · EF — доля потери (Exposure Factor) · ACS — цена защиты в год (Annualized Cost of Safeguard) · CBA — анализ затрат и выгод (Cost-Benefit Analysis)</a:t>
            </a:r>
          </a:p>
        </p:txBody>
      </p:sp>
    </p:spTree>
  </p:cSld>
  <p:clrMapOvr>
    <a:masterClrMapping/>
  </p:clrMapOvr>
  <p:transition spd="med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CBA: стоит ли внедрять контроль?</a:t>
            </a:r>
          </a:p>
        </p:txBody>
      </p:sp>
      <p:sp>
        <p:nvSpPr>
          <p:cNvPr id="4" name="Rounded Rectangle"/>
          <p:cNvSpPr/>
          <p:nvPr/>
        </p:nvSpPr>
        <p:spPr>
          <a:xfrm>
            <a:off x="457200" y="1188720"/>
            <a:ext cx="256032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"/>
          <p:cNvSpPr txBox="1"/>
          <p:nvPr/>
        </p:nvSpPr>
        <p:spPr>
          <a:xfrm>
            <a:off x="621792" y="1298448"/>
            <a:ext cx="224028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600" b="1" i="0">
                <a:solidFill>
                  <a:srgbClr val="B91C1C"/>
                </a:solidFill>
                <a:latin typeface="Calibri"/>
              </a:rPr>
              <a:t>Потери без защиты</a:t>
            </a:r>
          </a:p>
          <a:p>
            <a:pPr algn="l">
              <a:spcAft>
                <a:spcPts val="400"/>
              </a:spcAft>
            </a:pPr>
            <a:r>
              <a:rPr lang="ru-RU" sz="1400" b="0" i="0">
                <a:solidFill>
                  <a:srgbClr val="1E293B"/>
                </a:solidFill>
                <a:latin typeface="Calibri"/>
              </a:rPr>
              <a:t>За одну атаку (SLE): 100 000 $</a:t>
            </a:r>
          </a:p>
          <a:p>
            <a:pPr algn="l">
              <a:spcAft>
                <a:spcPts val="400"/>
              </a:spcAft>
            </a:pPr>
            <a:r>
              <a:rPr lang="ru-RU" sz="1400" b="0" i="0">
                <a:solidFill>
                  <a:srgbClr val="1E293B"/>
                </a:solidFill>
                <a:latin typeface="Calibri"/>
              </a:rPr>
              <a:t>Атак в год (ARO): 0,5</a:t>
            </a:r>
          </a:p>
          <a:p>
            <a:pPr algn="l">
              <a:spcAft>
                <a:spcPts val="400"/>
              </a:spcAft>
            </a:pPr>
            <a:r>
              <a:rPr lang="ru-RU" sz="1400" b="0" i="0">
                <a:solidFill>
                  <a:srgbClr val="1E293B"/>
                </a:solidFill>
                <a:latin typeface="Calibri"/>
              </a:rPr>
              <a:t>Потери за год (ALE): 50 000 $</a:t>
            </a:r>
          </a:p>
        </p:txBody>
      </p:sp>
      <p:sp>
        <p:nvSpPr>
          <p:cNvPr id="6" name="Rounded Rectangle"/>
          <p:cNvSpPr/>
          <p:nvPr/>
        </p:nvSpPr>
        <p:spPr>
          <a:xfrm>
            <a:off x="3291840" y="1188720"/>
            <a:ext cx="256032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"/>
          <p:cNvSpPr txBox="1"/>
          <p:nvPr/>
        </p:nvSpPr>
        <p:spPr>
          <a:xfrm>
            <a:off x="3456432" y="1298448"/>
            <a:ext cx="224028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600" b="1" i="0">
                <a:solidFill>
                  <a:srgbClr val="0E7490"/>
                </a:solidFill>
                <a:latin typeface="Calibri"/>
              </a:rPr>
              <a:t>Потери с защитой</a:t>
            </a:r>
          </a:p>
          <a:p>
            <a:pPr algn="l">
              <a:spcAft>
                <a:spcPts val="400"/>
              </a:spcAft>
            </a:pPr>
            <a:r>
              <a:rPr lang="ru-RU" sz="1400" b="0" i="0">
                <a:solidFill>
                  <a:srgbClr val="1E293B"/>
                </a:solidFill>
                <a:latin typeface="Calibri"/>
              </a:rPr>
              <a:t>За одну атаку (SLE): 100 000 $</a:t>
            </a:r>
          </a:p>
          <a:p>
            <a:pPr algn="l">
              <a:spcAft>
                <a:spcPts val="400"/>
              </a:spcAft>
            </a:pPr>
            <a:r>
              <a:rPr lang="ru-RU" sz="1400" b="0" i="0">
                <a:solidFill>
                  <a:srgbClr val="1E293B"/>
                </a:solidFill>
                <a:latin typeface="Calibri"/>
              </a:rPr>
              <a:t>Атак в год (ARO): 0,1 — раз в 10 лет</a:t>
            </a:r>
          </a:p>
          <a:p>
            <a:pPr algn="l">
              <a:spcAft>
                <a:spcPts val="400"/>
              </a:spcAft>
            </a:pPr>
            <a:r>
              <a:rPr lang="ru-RU" sz="1400" b="0" i="0">
                <a:solidFill>
                  <a:srgbClr val="1E293B"/>
                </a:solidFill>
                <a:latin typeface="Calibri"/>
              </a:rPr>
              <a:t>Потери за год (ALE): 10 000 $</a:t>
            </a:r>
          </a:p>
        </p:txBody>
      </p:sp>
      <p:sp>
        <p:nvSpPr>
          <p:cNvPr id="8" name="Rounded Rectangle"/>
          <p:cNvSpPr/>
          <p:nvPr/>
        </p:nvSpPr>
        <p:spPr>
          <a:xfrm>
            <a:off x="6126480" y="1188720"/>
            <a:ext cx="256032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"/>
          <p:cNvSpPr txBox="1"/>
          <p:nvPr/>
        </p:nvSpPr>
        <p:spPr>
          <a:xfrm>
            <a:off x="6291072" y="1298448"/>
            <a:ext cx="224028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600" b="1" i="0">
                <a:solidFill>
                  <a:srgbClr val="C2410C"/>
                </a:solidFill>
                <a:latin typeface="Calibri"/>
              </a:rPr>
              <a:t>Цена защиты</a:t>
            </a:r>
          </a:p>
          <a:p>
            <a:pPr algn="l">
              <a:spcAft>
                <a:spcPts val="400"/>
              </a:spcAft>
            </a:pPr>
            <a:r>
              <a:rPr lang="ru-RU" sz="1400" b="0" i="0">
                <a:solidFill>
                  <a:srgbClr val="1E293B"/>
                </a:solidFill>
                <a:latin typeface="Calibri"/>
              </a:rPr>
              <a:t>Закупка, внедрение, обучение и поддержка за год</a:t>
            </a:r>
          </a:p>
          <a:p>
            <a:pPr algn="l">
              <a:spcAft>
                <a:spcPts val="400"/>
              </a:spcAft>
            </a:pPr>
            <a:r>
              <a:rPr lang="ru-RU" sz="1400" b="0" i="0">
                <a:solidFill>
                  <a:srgbClr val="1E293B"/>
                </a:solidFill>
                <a:latin typeface="Calibri"/>
              </a:rPr>
              <a:t>Цена защиты за год (ACS): 15 000 $</a:t>
            </a:r>
          </a:p>
        </p:txBody>
      </p:sp>
      <p:sp>
        <p:nvSpPr>
          <p:cNvPr id="10" name="Rounded Rectangle"/>
          <p:cNvSpPr/>
          <p:nvPr/>
        </p:nvSpPr>
        <p:spPr>
          <a:xfrm>
            <a:off x="457200" y="2926080"/>
            <a:ext cx="8229600" cy="128016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"/>
          <p:cNvSpPr txBox="1"/>
          <p:nvPr/>
        </p:nvSpPr>
        <p:spPr>
          <a:xfrm>
            <a:off x="640080" y="3017520"/>
            <a:ext cx="7863840" cy="7848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lang="ru-RU" sz="1400" b="1" i="0" dirty="0">
                <a:solidFill>
                  <a:srgbClr val="1E293B"/>
                </a:solidFill>
                <a:latin typeface="Calibri"/>
              </a:rPr>
              <a:t>Что считаем: </a:t>
            </a:r>
            <a:r>
              <a:rPr lang="ru-RU" sz="1400" b="0" i="0" dirty="0">
                <a:solidFill>
                  <a:srgbClr val="1E293B"/>
                </a:solidFill>
                <a:latin typeface="Calibri"/>
              </a:rPr>
              <a:t>сколько денег мы выигрываем от защиты за год</a:t>
            </a:r>
          </a:p>
          <a:p>
            <a:pPr algn="l">
              <a:spcAft>
                <a:spcPts val="300"/>
              </a:spcAft>
            </a:pPr>
            <a:r>
              <a:rPr lang="ru-RU" sz="1800" b="1" i="0" dirty="0">
                <a:solidFill>
                  <a:srgbClr val="047857"/>
                </a:solidFill>
                <a:latin typeface="Calibri"/>
              </a:rPr>
              <a:t>CBA = ALE до − ALE после − ACS</a:t>
            </a:r>
          </a:p>
          <a:p>
            <a:pPr algn="l">
              <a:spcAft>
                <a:spcPts val="300"/>
              </a:spcAft>
            </a:pPr>
            <a:r>
              <a:rPr lang="ru-RU" sz="1400" b="0" i="0" dirty="0">
                <a:solidFill>
                  <a:srgbClr val="1E293B"/>
                </a:solidFill>
                <a:latin typeface="Calibri"/>
              </a:rPr>
              <a:t>ALE до — потери за год без защиты, ALE после — потери за год с защитой, ACS — цена защиты за год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457200" y="4370832"/>
            <a:ext cx="82296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lang="ru-RU" sz="1400" b="0" i="0" dirty="0">
                <a:solidFill>
                  <a:srgbClr val="475569"/>
                </a:solidFill>
                <a:latin typeface="Calibri"/>
              </a:rPr>
              <a:t>SLE — потери за одну атаку · ARO — атак в год · ALE — потери за год · ACS — цена защиты в год · CBA — анализ затрат и выгод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2800" b="1" i="0" dirty="0">
                <a:solidFill>
                  <a:srgbClr val="1E293B"/>
                </a:solidFill>
                <a:latin typeface="Calibri"/>
              </a:rPr>
              <a:t>CBA по шагам: окупается ли защита?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400" b="0" i="0" dirty="0">
                <a:solidFill>
                  <a:srgbClr val="475569"/>
                </a:solidFill>
                <a:latin typeface="Calibri"/>
              </a:rPr>
              <a:t>Считаем выигрыш за год</a:t>
            </a:r>
          </a:p>
        </p:txBody>
      </p:sp>
      <p:sp>
        <p:nvSpPr>
          <p:cNvPr id="4" name="Rounded Rectangle"/>
          <p:cNvSpPr/>
          <p:nvPr/>
        </p:nvSpPr>
        <p:spPr>
          <a:xfrm>
            <a:off x="457200" y="1188720"/>
            <a:ext cx="8092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"/>
          <p:cNvSpPr txBox="1"/>
          <p:nvPr/>
        </p:nvSpPr>
        <p:spPr>
          <a:xfrm>
            <a:off x="640080" y="1298448"/>
            <a:ext cx="4846320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lang="ru-RU" sz="1600" b="1" i="0" dirty="0">
                <a:solidFill>
                  <a:srgbClr val="B91C1C"/>
                </a:solidFill>
                <a:latin typeface="Calibri"/>
              </a:rPr>
              <a:t>Шаг 1. </a:t>
            </a:r>
            <a:r>
              <a:rPr lang="ru-RU" sz="1600" b="0" i="0" dirty="0">
                <a:solidFill>
                  <a:srgbClr val="1E293B"/>
                </a:solidFill>
                <a:latin typeface="Calibri"/>
              </a:rPr>
              <a:t>Потери в год без защиты (ALE до): 50 000 $</a:t>
            </a:r>
          </a:p>
          <a:p>
            <a:pPr algn="l">
              <a:spcAft>
                <a:spcPts val="900"/>
              </a:spcAft>
            </a:pPr>
            <a:r>
              <a:rPr lang="ru-RU" sz="1600" b="1" i="0" dirty="0">
                <a:solidFill>
                  <a:srgbClr val="0E7490"/>
                </a:solidFill>
                <a:latin typeface="Calibri"/>
              </a:rPr>
              <a:t>Шаг 2. </a:t>
            </a:r>
            <a:r>
              <a:rPr lang="ru-RU" sz="1600" b="0" i="0" dirty="0">
                <a:solidFill>
                  <a:srgbClr val="1E293B"/>
                </a:solidFill>
                <a:latin typeface="Calibri"/>
              </a:rPr>
              <a:t>Потери в год с защитой (ALE после): 10 000 $</a:t>
            </a:r>
          </a:p>
          <a:p>
            <a:pPr algn="l">
              <a:spcAft>
                <a:spcPts val="900"/>
              </a:spcAft>
            </a:pPr>
            <a:r>
              <a:rPr lang="ru-RU" sz="1600" b="1" i="0" dirty="0">
                <a:solidFill>
                  <a:srgbClr val="C2410C"/>
                </a:solidFill>
                <a:latin typeface="Calibri"/>
              </a:rPr>
              <a:t>Шаг 3. </a:t>
            </a:r>
            <a:r>
              <a:rPr lang="ru-RU" sz="1600" b="0" i="0" dirty="0">
                <a:solidFill>
                  <a:srgbClr val="1E293B"/>
                </a:solidFill>
                <a:latin typeface="Calibri"/>
              </a:rPr>
              <a:t>Цена защиты в год (ACS): 15 000 $</a:t>
            </a:r>
          </a:p>
          <a:p>
            <a:pPr algn="l">
              <a:spcAft>
                <a:spcPts val="900"/>
              </a:spcAft>
            </a:pPr>
            <a:r>
              <a:rPr lang="ru-RU" sz="1600" b="1" i="0" dirty="0">
                <a:solidFill>
                  <a:srgbClr val="047857"/>
                </a:solidFill>
                <a:latin typeface="Calibri"/>
              </a:rPr>
              <a:t>Шаг 4. </a:t>
            </a:r>
            <a:r>
              <a:rPr lang="ru-RU" sz="1600" b="0" i="0" dirty="0">
                <a:solidFill>
                  <a:srgbClr val="1E293B"/>
                </a:solidFill>
                <a:latin typeface="Calibri"/>
              </a:rPr>
              <a:t>Выигрыш: 50 000 − 10 000 − 15 000 = </a:t>
            </a:r>
            <a:r>
              <a:rPr lang="ru-RU" sz="1800" b="1" i="0" dirty="0">
                <a:solidFill>
                  <a:srgbClr val="047857"/>
                </a:solidFill>
                <a:latin typeface="Calibri"/>
              </a:rPr>
              <a:t>25 000 $</a:t>
            </a:r>
          </a:p>
        </p:txBody>
      </p:sp>
      <p:sp>
        <p:nvSpPr>
          <p:cNvPr id="8" name="Rounded Rectangle"/>
          <p:cNvSpPr/>
          <p:nvPr/>
        </p:nvSpPr>
        <p:spPr>
          <a:xfrm>
            <a:off x="457200" y="3154680"/>
            <a:ext cx="8229600" cy="9601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"/>
          <p:cNvSpPr txBox="1"/>
          <p:nvPr/>
        </p:nvSpPr>
        <p:spPr>
          <a:xfrm>
            <a:off x="640080" y="3246120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lang="ru-RU" sz="1800" b="1" i="0">
                <a:solidFill>
                  <a:srgbClr val="047857"/>
                </a:solidFill>
                <a:latin typeface="Calibri"/>
              </a:rPr>
              <a:t>Вывод: CBA = 25 000 $ больше нуля — контроль окупается, внедряем.</a:t>
            </a:r>
          </a:p>
          <a:p>
            <a:pPr algn="l">
              <a:spcAft>
                <a:spcPts val="500"/>
              </a:spcAft>
            </a:pPr>
            <a:r>
              <a:rPr lang="ru-RU" sz="1400" b="0" i="0">
                <a:solidFill>
                  <a:srgbClr val="1E293B"/>
                </a:solidFill>
                <a:latin typeface="Calibri"/>
              </a:rPr>
              <a:t>А если бы защита стоила 45 000 $ в год: 50 000 − 10 000 − 45 000 = </a:t>
            </a:r>
            <a:r>
              <a:rPr lang="ru-RU" sz="1400" b="1" i="0">
                <a:solidFill>
                  <a:srgbClr val="B91C1C"/>
                </a:solidFill>
                <a:latin typeface="Calibri"/>
              </a:rPr>
              <a:t>−5 000 $ — не окупается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457200" y="4279392"/>
            <a:ext cx="82296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lang="ru-RU" sz="1400" b="0" i="0" dirty="0">
                <a:solidFill>
                  <a:srgbClr val="475569"/>
                </a:solidFill>
                <a:latin typeface="Calibri"/>
              </a:rPr>
              <a:t>ALE до / после — потери за год без защиты / с защитой · ACS — цена защиты за год · CBA — анализ затрат и выгод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Компания хранит персональные данные клиентов в информационной системе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58824"/>
            <a:ext cx="2651760" cy="1367942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621792" y="1374891"/>
            <a:ext cx="2322576" cy="290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689933"/>
            <a:ext cx="2322576" cy="853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клиентов: имена, адреса, телефоны, платёжные данные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606040" y="1341729"/>
            <a:ext cx="365760" cy="331622"/>
          </a:xfrm>
          <a:prstGeom prst="ellipse">
            <a:avLst/>
          </a:prstGeom>
          <a:solidFill>
            <a:srgbClr val="0E74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258824"/>
            <a:ext cx="2651760" cy="1367942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3456432" y="1374891"/>
            <a:ext cx="2322576" cy="290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Уязвимость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56432" y="1689933"/>
            <a:ext cx="2322576" cy="853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Слабая аутентификация, нет шифрования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40680" y="1341729"/>
            <a:ext cx="365760" cy="331622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1258824"/>
            <a:ext cx="2651760" cy="1367942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291072" y="1374891"/>
            <a:ext cx="2322576" cy="290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Угроза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291072" y="1689933"/>
            <a:ext cx="2322576" cy="853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Кража или утечка данных злоумышленником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75320" y="1341729"/>
            <a:ext cx="365760" cy="331622"/>
          </a:xfrm>
          <a:prstGeom prst="ellipse">
            <a:avLst/>
          </a:prstGeom>
          <a:solidFill>
            <a:srgbClr val="C2410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792577"/>
            <a:ext cx="2651760" cy="1367942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21792" y="2908645"/>
            <a:ext cx="2322576" cy="290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" y="3223686"/>
            <a:ext cx="2322576" cy="853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Вероятность 3, воздействие 5 → риск 15 (порог 10)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06040" y="2875483"/>
            <a:ext cx="365760" cy="331622"/>
          </a:xfrm>
          <a:prstGeom prst="ellipse">
            <a:avLst/>
          </a:prstGeom>
          <a:solidFill>
            <a:srgbClr val="B91C1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91840" y="2792577"/>
            <a:ext cx="2651760" cy="1367942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3456432" y="2908645"/>
            <a:ext cx="2322576" cy="290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Меры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456432" y="3223686"/>
            <a:ext cx="2322576" cy="853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(многофакторная аутентификация), шифрование, контроль доступа, SETA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2875483"/>
            <a:ext cx="365760" cy="331622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26480" y="2792577"/>
            <a:ext cx="2651760" cy="1367942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6291072" y="2908645"/>
            <a:ext cx="2322576" cy="290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291072" y="3223686"/>
            <a:ext cx="2322576" cy="853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Остаточный риск 8 (2×4) ниже порога; регулярный пересмотр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75320" y="2875483"/>
            <a:ext cx="365760" cy="331622"/>
          </a:xfrm>
          <a:prstGeom prst="ellipse">
            <a:avLst/>
          </a:prstGeom>
          <a:solidFill>
            <a:srgbClr val="0E74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247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273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29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31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dirty="0" err="1">
                <a:solidFill>
                  <a:srgbClr val="1E293B"/>
                </a:solidFill>
                <a:latin typeface="Calibri"/>
              </a:rPr>
              <a:t>Риск</a:t>
            </a:r>
            <a:r>
              <a:rPr sz="2800" b="1" dirty="0">
                <a:solidFill>
                  <a:srgbClr val="1E293B"/>
                </a:solidFill>
                <a:latin typeface="Calibri"/>
              </a:rPr>
              <a:t> «</a:t>
            </a:r>
            <a:r>
              <a:rPr sz="2800" b="1" dirty="0" err="1">
                <a:solidFill>
                  <a:srgbClr val="1E293B"/>
                </a:solidFill>
                <a:latin typeface="Calibri"/>
              </a:rPr>
              <a:t>было</a:t>
            </a:r>
            <a:r>
              <a:rPr sz="2800" b="1" dirty="0">
                <a:solidFill>
                  <a:srgbClr val="1E293B"/>
                </a:solidFill>
                <a:latin typeface="Calibri"/>
              </a:rPr>
              <a:t> → </a:t>
            </a:r>
            <a:r>
              <a:rPr sz="2800" b="1" dirty="0" err="1">
                <a:solidFill>
                  <a:srgbClr val="1E293B"/>
                </a:solidFill>
                <a:latin typeface="Calibri"/>
              </a:rPr>
              <a:t>стало</a:t>
            </a:r>
            <a:r>
              <a:rPr sz="2800" b="1" dirty="0">
                <a:solidFill>
                  <a:srgbClr val="1E293B"/>
                </a:solidFill>
                <a:latin typeface="Calibri"/>
              </a:rPr>
              <a:t>» </a:t>
            </a:r>
            <a:r>
              <a:rPr sz="2800" b="1" dirty="0" err="1">
                <a:solidFill>
                  <a:srgbClr val="1E293B"/>
                </a:solidFill>
                <a:latin typeface="Calibri"/>
              </a:rPr>
              <a:t>на</a:t>
            </a:r>
            <a:r>
              <a:rPr sz="28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1E293B"/>
                </a:solidFill>
                <a:latin typeface="Calibri"/>
              </a:rPr>
              <a:t>матрице</a:t>
            </a:r>
            <a:r>
              <a:rPr sz="2800" b="1" dirty="0">
                <a:solidFill>
                  <a:srgbClr val="1E293B"/>
                </a:solidFill>
                <a:latin typeface="Calibri"/>
              </a:rPr>
              <a:t> 5×5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Матрица со слайда 9: вероятность (→) × воздействие (↑); порог риска 10 (по умолчанию в учебнике)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474720"/>
            <a:ext cx="621792" cy="548640"/>
          </a:xfrm>
          <a:prstGeom prst="rect">
            <a:avLst/>
          </a:prstGeom>
          <a:solidFill>
            <a:srgbClr val="BBF7D0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E293B"/>
                </a:solidFill>
                <a:latin typeface="Calibri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926079"/>
            <a:ext cx="621792" cy="548640"/>
          </a:xfrm>
          <a:prstGeom prst="rect">
            <a:avLst/>
          </a:prstGeom>
          <a:solidFill>
            <a:srgbClr val="BBF7D0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E293B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77439"/>
            <a:ext cx="621792" cy="548640"/>
          </a:xfrm>
          <a:prstGeom prst="rect">
            <a:avLst/>
          </a:prstGeom>
          <a:solidFill>
            <a:srgbClr val="BBF7D0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E293B"/>
                </a:solidFill>
                <a:latin typeface="Calibri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621792" cy="548640"/>
          </a:xfrm>
          <a:prstGeom prst="rect">
            <a:avLst/>
          </a:prstGeom>
          <a:solidFill>
            <a:srgbClr val="BBF7D0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E293B"/>
                </a:solidFill>
                <a:latin typeface="Calibri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280160"/>
            <a:ext cx="621792" cy="548640"/>
          </a:xfrm>
          <a:prstGeom prst="rect">
            <a:avLst/>
          </a:prstGeom>
          <a:solidFill>
            <a:srgbClr val="BBF7D0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E293B"/>
                </a:solidFill>
                <a:latin typeface="Calibri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1444752" y="3474720"/>
            <a:ext cx="621792" cy="548640"/>
          </a:xfrm>
          <a:prstGeom prst="rect">
            <a:avLst/>
          </a:prstGeom>
          <a:solidFill>
            <a:srgbClr val="BBF7D0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E293B"/>
                </a:solidFill>
                <a:latin typeface="Calibri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44752" y="2926079"/>
            <a:ext cx="621792" cy="548640"/>
          </a:xfrm>
          <a:prstGeom prst="rect">
            <a:avLst/>
          </a:prstGeom>
          <a:solidFill>
            <a:srgbClr val="BBF7D0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E293B"/>
                </a:solidFill>
                <a:latin typeface="Calibri"/>
              </a:rPr>
              <a:t>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44752" y="2377439"/>
            <a:ext cx="621792" cy="548640"/>
          </a:xfrm>
          <a:prstGeom prst="rect">
            <a:avLst/>
          </a:prstGeom>
          <a:solidFill>
            <a:srgbClr val="BBF7D0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E293B"/>
                </a:solidFill>
                <a:latin typeface="Calibri"/>
              </a:rPr>
              <a:t>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44752" y="1828800"/>
            <a:ext cx="621792" cy="548640"/>
          </a:xfrm>
          <a:prstGeom prst="rect">
            <a:avLst/>
          </a:prstGeom>
          <a:solidFill>
            <a:srgbClr val="FDE68A"/>
          </a:solidFill>
          <a:ln w="381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293B"/>
                </a:solidFill>
                <a:latin typeface="Calibri"/>
              </a:rPr>
              <a:t>Стало 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44752" y="1280160"/>
            <a:ext cx="621792" cy="548640"/>
          </a:xfrm>
          <a:prstGeom prst="rect">
            <a:avLst/>
          </a:prstGeom>
          <a:solidFill>
            <a:srgbClr val="FDE68A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E293B"/>
                </a:solidFill>
                <a:latin typeface="Calibri"/>
              </a:rPr>
              <a:t>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66544" y="3474720"/>
            <a:ext cx="621792" cy="548640"/>
          </a:xfrm>
          <a:prstGeom prst="rect">
            <a:avLst/>
          </a:prstGeom>
          <a:solidFill>
            <a:srgbClr val="BBF7D0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E293B"/>
                </a:solidFill>
                <a:latin typeface="Calibri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66544" y="2926079"/>
            <a:ext cx="621792" cy="548640"/>
          </a:xfrm>
          <a:prstGeom prst="rect">
            <a:avLst/>
          </a:prstGeom>
          <a:solidFill>
            <a:srgbClr val="BBF7D0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E293B"/>
                </a:solidFill>
                <a:latin typeface="Calibri"/>
              </a:rPr>
              <a:t>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66544" y="2377439"/>
            <a:ext cx="621792" cy="548640"/>
          </a:xfrm>
          <a:prstGeom prst="rect">
            <a:avLst/>
          </a:prstGeom>
          <a:solidFill>
            <a:srgbClr val="FDE68A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E293B"/>
                </a:solidFill>
                <a:latin typeface="Calibri"/>
              </a:rPr>
              <a:t>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66544" y="1828800"/>
            <a:ext cx="621792" cy="548640"/>
          </a:xfrm>
          <a:prstGeom prst="rect">
            <a:avLst/>
          </a:prstGeom>
          <a:solidFill>
            <a:srgbClr val="FCA5A5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E293B"/>
                </a:solidFill>
                <a:latin typeface="Calibri"/>
              </a:rPr>
              <a:t>12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66544" y="1280160"/>
            <a:ext cx="621792" cy="548640"/>
          </a:xfrm>
          <a:prstGeom prst="rect">
            <a:avLst/>
          </a:prstGeom>
          <a:solidFill>
            <a:srgbClr val="FCA5A5"/>
          </a:solidFill>
          <a:ln w="381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293B"/>
                </a:solidFill>
                <a:latin typeface="Calibri"/>
              </a:rPr>
              <a:t>Было 15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88336" y="3474720"/>
            <a:ext cx="621792" cy="548640"/>
          </a:xfrm>
          <a:prstGeom prst="rect">
            <a:avLst/>
          </a:prstGeom>
          <a:solidFill>
            <a:srgbClr val="BBF7D0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E293B"/>
                </a:solidFill>
                <a:latin typeface="Calibri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88336" y="2926079"/>
            <a:ext cx="621792" cy="548640"/>
          </a:xfrm>
          <a:prstGeom prst="rect">
            <a:avLst/>
          </a:prstGeom>
          <a:solidFill>
            <a:srgbClr val="FDE68A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E293B"/>
                </a:solidFill>
                <a:latin typeface="Calibri"/>
              </a:rPr>
              <a:t>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88336" y="2377439"/>
            <a:ext cx="621792" cy="548640"/>
          </a:xfrm>
          <a:prstGeom prst="rect">
            <a:avLst/>
          </a:prstGeom>
          <a:solidFill>
            <a:srgbClr val="FCA5A5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E293B"/>
                </a:solidFill>
                <a:latin typeface="Calibri"/>
              </a:rPr>
              <a:t>12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88336" y="1828800"/>
            <a:ext cx="621792" cy="548640"/>
          </a:xfrm>
          <a:prstGeom prst="rect">
            <a:avLst/>
          </a:prstGeom>
          <a:solidFill>
            <a:srgbClr val="FCA5A5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E293B"/>
                </a:solidFill>
                <a:latin typeface="Calibri"/>
              </a:rPr>
              <a:t>16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88336" y="1280160"/>
            <a:ext cx="621792" cy="548640"/>
          </a:xfrm>
          <a:prstGeom prst="rect">
            <a:avLst/>
          </a:prstGeom>
          <a:solidFill>
            <a:srgbClr val="FCA5A5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E293B"/>
                </a:solidFill>
                <a:latin typeface="Calibri"/>
              </a:rPr>
              <a:t>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10128" y="3474720"/>
            <a:ext cx="621792" cy="548640"/>
          </a:xfrm>
          <a:prstGeom prst="rect">
            <a:avLst/>
          </a:prstGeom>
          <a:solidFill>
            <a:srgbClr val="BBF7D0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E293B"/>
                </a:solidFill>
                <a:latin typeface="Calibri"/>
              </a:rP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10128" y="2926079"/>
            <a:ext cx="621792" cy="548640"/>
          </a:xfrm>
          <a:prstGeom prst="rect">
            <a:avLst/>
          </a:prstGeom>
          <a:solidFill>
            <a:srgbClr val="FDE68A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E293B"/>
                </a:solidFill>
                <a:latin typeface="Calibri"/>
              </a:rPr>
              <a:t>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2377439"/>
            <a:ext cx="621792" cy="548640"/>
          </a:xfrm>
          <a:prstGeom prst="rect">
            <a:avLst/>
          </a:prstGeom>
          <a:solidFill>
            <a:srgbClr val="FCA5A5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E293B"/>
                </a:solidFill>
                <a:latin typeface="Calibri"/>
              </a:rPr>
              <a:t>15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10128" y="1828800"/>
            <a:ext cx="621792" cy="548640"/>
          </a:xfrm>
          <a:prstGeom prst="rect">
            <a:avLst/>
          </a:prstGeom>
          <a:solidFill>
            <a:srgbClr val="FCA5A5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E293B"/>
                </a:solidFill>
                <a:latin typeface="Calibri"/>
              </a:rPr>
              <a:t>20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10128" y="1280160"/>
            <a:ext cx="621792" cy="548640"/>
          </a:xfrm>
          <a:prstGeom prst="rect">
            <a:avLst/>
          </a:prstGeom>
          <a:solidFill>
            <a:srgbClr val="FCA5A5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E293B"/>
                </a:solidFill>
                <a:latin typeface="Calibri"/>
              </a:rPr>
              <a:t>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23774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Возд. 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06908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Вероятность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1280160"/>
            <a:ext cx="448056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Было: вероятность 3 × воздействие 5 = 15 — выше порога 10, риск надо обрабатывать.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Стратегия — снижение: MFA и контроль доступа уменьшают вероятность (3 → 2), шифрование ограничивает ущерб от утечки (5 → 4).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Стало: 2 × 4 = 8 — ниже порога 10; остаточный риск принимается осознанно и пересматривается.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Значения «после» — допущение для иллюстрации.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3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Методологии управления рисками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Единый процесс RM из модуля реализуют по-разному: стандарты, фреймворки и методики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50000"/>
            <a:ext cx="2660000" cy="135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87200" y="1340000"/>
            <a:ext cx="240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0E7490"/>
                </a:solidFill>
                <a:latin typeface="Calibri"/>
              </a:rPr>
              <a:t>OCTAVE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7200" y="1650000"/>
            <a:ext cx="2400000" cy="8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E293B"/>
                </a:solidFill>
                <a:latin typeface="Calibri"/>
              </a:rPr>
              <a:t>Самооценка риска силами самой организации; от активов к угрозам. CERT/SEI, Carnegie Mellon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2200" y="1250000"/>
            <a:ext cx="2660000" cy="135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72200" y="1340000"/>
            <a:ext cx="240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C2410C"/>
                </a:solidFill>
                <a:latin typeface="Calibri"/>
              </a:rPr>
              <a:t>ISO 31000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72200" y="1650000"/>
            <a:ext cx="2400000" cy="8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E293B"/>
                </a:solidFill>
                <a:latin typeface="Calibri"/>
              </a:rPr>
              <a:t>Общие принципы и процесс управления любыми рисками; не сертифицируется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27200" y="1250000"/>
            <a:ext cx="2660000" cy="135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57200" y="1340000"/>
            <a:ext cx="240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6D28D9"/>
                </a:solidFill>
                <a:latin typeface="Calibri"/>
              </a:rPr>
              <a:t>ISO/IEC 27005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7200" y="1650000"/>
            <a:ext cx="2400000" cy="8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E293B"/>
                </a:solidFill>
                <a:latin typeface="Calibri"/>
              </a:rPr>
              <a:t>Управление рисками ИБ внутри СМИБ по ISO/IEC 27001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725000"/>
            <a:ext cx="2660000" cy="135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7200" y="2815000"/>
            <a:ext cx="240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047857"/>
                </a:solidFill>
                <a:latin typeface="Calibri"/>
              </a:rPr>
              <a:t>NIST SP 800-30 / RMF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7200" y="3125000"/>
            <a:ext cx="2400000" cy="8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E293B"/>
                </a:solidFill>
                <a:latin typeface="Calibri"/>
              </a:rPr>
              <a:t>Оценка риска (800-30) и жизненный цикл управления рисками (800-37)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2200" y="2725000"/>
            <a:ext cx="2660000" cy="135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72200" y="2815000"/>
            <a:ext cx="240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0E7490"/>
                </a:solidFill>
                <a:latin typeface="Calibri"/>
              </a:rPr>
              <a:t>FAIR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72200" y="3125000"/>
            <a:ext cx="2400000" cy="8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E293B"/>
                </a:solidFill>
                <a:latin typeface="Calibri"/>
              </a:rPr>
              <a:t>Количественный анализ: риск в деньгах, частота × размер потерь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27200" y="2725000"/>
            <a:ext cx="2660000" cy="135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57200" y="2815000"/>
            <a:ext cx="240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C2410C"/>
                </a:solidFill>
                <a:latin typeface="Calibri"/>
              </a:rPr>
              <a:t>Другие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7200" y="3125000"/>
            <a:ext cx="2400000" cy="8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E293B"/>
                </a:solidFill>
                <a:latin typeface="Calibri"/>
              </a:rPr>
              <a:t>CRAMM (Великобритания), EBIOS RM и MEHARI (Франция), COBIT / Risk IT (ISACA)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300000"/>
            <a:ext cx="82296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Выбор зависит от размера организации, требований регуляторов и того, нужна ли оценка в деньгах.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3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Сравнение методологий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Что выбрать: охват, подход и назначение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5302315"/>
              </p:ext>
            </p:extLst>
          </p:nvPr>
        </p:nvGraphicFramePr>
        <p:xfrm>
          <a:off x="457200" y="1250000"/>
          <a:ext cx="7874000" cy="288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10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7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10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1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0000"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Методология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70000" marR="70000" anchor="ctr"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Охват</a:t>
                      </a:r>
                    </a:p>
                  </a:txBody>
                  <a:tcPr marL="70000" marR="70000" anchor="ctr"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Подход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70000" marR="70000" anchor="ctr"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Когда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подходит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70000" marR="70000" anchor="ctr">
                    <a:solidFill>
                      <a:srgbClr val="0E74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93B"/>
                          </a:solidFill>
                          <a:latin typeface="Calibri"/>
                        </a:rPr>
                        <a:t>OCTAVE</a:t>
                      </a:r>
                    </a:p>
                  </a:txBody>
                  <a:tcPr marL="70000" marR="7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ИБ</a:t>
                      </a:r>
                    </a:p>
                  </a:txBody>
                  <a:tcPr marL="70000" marR="7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 err="1">
                          <a:solidFill>
                            <a:srgbClr val="1E293B"/>
                          </a:solidFill>
                          <a:latin typeface="Calibri"/>
                        </a:rPr>
                        <a:t>Качественный</a:t>
                      </a:r>
                      <a:endParaRPr sz="1100" b="0" dirty="0">
                        <a:solidFill>
                          <a:srgbClr val="1E293B"/>
                        </a:solidFill>
                        <a:latin typeface="Calibri"/>
                      </a:endParaRPr>
                    </a:p>
                  </a:txBody>
                  <a:tcPr marL="70000" marR="7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Самооценка силами организации</a:t>
                      </a:r>
                    </a:p>
                  </a:txBody>
                  <a:tcPr marL="70000" marR="7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93B"/>
                          </a:solidFill>
                          <a:latin typeface="Calibri"/>
                        </a:rPr>
                        <a:t>ISO 31000</a:t>
                      </a:r>
                    </a:p>
                  </a:txBody>
                  <a:tcPr marL="70000" marR="70000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Любые риски</a:t>
                      </a:r>
                    </a:p>
                  </a:txBody>
                  <a:tcPr marL="70000" marR="70000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Любой</a:t>
                      </a:r>
                    </a:p>
                  </a:txBody>
                  <a:tcPr marL="70000" marR="70000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 err="1">
                          <a:solidFill>
                            <a:srgbClr val="1E293B"/>
                          </a:solidFill>
                          <a:latin typeface="Calibri"/>
                        </a:rPr>
                        <a:t>Общая</a:t>
                      </a:r>
                      <a:r>
                        <a:rPr sz="1100" b="0" dirty="0">
                          <a:solidFill>
                            <a:srgbClr val="1E293B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E293B"/>
                          </a:solidFill>
                          <a:latin typeface="Calibri"/>
                        </a:rPr>
                        <a:t>рамка</a:t>
                      </a:r>
                      <a:r>
                        <a:rPr sz="1100" b="0" dirty="0">
                          <a:solidFill>
                            <a:srgbClr val="1E293B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E293B"/>
                          </a:solidFill>
                          <a:latin typeface="Calibri"/>
                        </a:rPr>
                        <a:t>для</a:t>
                      </a:r>
                      <a:r>
                        <a:rPr sz="1100" b="0" dirty="0">
                          <a:solidFill>
                            <a:srgbClr val="1E293B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E293B"/>
                          </a:solidFill>
                          <a:latin typeface="Calibri"/>
                        </a:rPr>
                        <a:t>организации</a:t>
                      </a:r>
                      <a:endParaRPr sz="1100" b="0" dirty="0">
                        <a:solidFill>
                          <a:srgbClr val="1E293B"/>
                        </a:solidFill>
                        <a:latin typeface="Calibri"/>
                      </a:endParaRPr>
                    </a:p>
                  </a:txBody>
                  <a:tcPr marL="70000" marR="70000" anchor="ctr"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93B"/>
                          </a:solidFill>
                          <a:latin typeface="Calibri"/>
                        </a:rPr>
                        <a:t>ISO/IEC 27005</a:t>
                      </a:r>
                    </a:p>
                  </a:txBody>
                  <a:tcPr marL="70000" marR="7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Риски ИБ</a:t>
                      </a:r>
                    </a:p>
                  </a:txBody>
                  <a:tcPr marL="70000" marR="7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Качественный или количественный</a:t>
                      </a:r>
                    </a:p>
                  </a:txBody>
                  <a:tcPr marL="70000" marR="7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Организации со СМИБ</a:t>
                      </a:r>
                    </a:p>
                  </a:txBody>
                  <a:tcPr marL="70000" marR="7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93B"/>
                          </a:solidFill>
                          <a:latin typeface="Calibri"/>
                        </a:rPr>
                        <a:t>NIST 800-30 / RMF</a:t>
                      </a:r>
                    </a:p>
                  </a:txBody>
                  <a:tcPr marL="70000" marR="70000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ИБ, системы</a:t>
                      </a:r>
                    </a:p>
                  </a:txBody>
                  <a:tcPr marL="70000" marR="70000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Полуколичественный</a:t>
                      </a:r>
                    </a:p>
                  </a:txBody>
                  <a:tcPr marL="70000" marR="70000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 err="1">
                          <a:solidFill>
                            <a:srgbClr val="1E293B"/>
                          </a:solidFill>
                          <a:latin typeface="Calibri"/>
                        </a:rPr>
                        <a:t>Госсектор</a:t>
                      </a:r>
                      <a:endParaRPr sz="1100" b="0" dirty="0">
                        <a:solidFill>
                          <a:srgbClr val="1E293B"/>
                        </a:solidFill>
                        <a:latin typeface="Calibri"/>
                      </a:endParaRPr>
                    </a:p>
                  </a:txBody>
                  <a:tcPr marL="70000" marR="70000" anchor="ctr"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93B"/>
                          </a:solidFill>
                          <a:latin typeface="Calibri"/>
                        </a:rPr>
                        <a:t>FAIR</a:t>
                      </a:r>
                    </a:p>
                  </a:txBody>
                  <a:tcPr marL="70000" marR="7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ИБ, киберриск</a:t>
                      </a:r>
                    </a:p>
                  </a:txBody>
                  <a:tcPr marL="70000" marR="7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Количественный</a:t>
                      </a:r>
                    </a:p>
                  </a:txBody>
                  <a:tcPr marL="70000" marR="7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 err="1">
                          <a:solidFill>
                            <a:srgbClr val="1E293B"/>
                          </a:solidFill>
                          <a:latin typeface="Calibri"/>
                        </a:rPr>
                        <a:t>Нужна</a:t>
                      </a:r>
                      <a:r>
                        <a:rPr sz="1100" b="0" dirty="0">
                          <a:solidFill>
                            <a:srgbClr val="1E293B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E293B"/>
                          </a:solidFill>
                          <a:latin typeface="Calibri"/>
                        </a:rPr>
                        <a:t>оценка</a:t>
                      </a:r>
                      <a:r>
                        <a:rPr sz="1100" b="0" dirty="0">
                          <a:solidFill>
                            <a:srgbClr val="1E293B"/>
                          </a:solidFill>
                          <a:latin typeface="Calibri"/>
                        </a:rPr>
                        <a:t> в </a:t>
                      </a:r>
                      <a:r>
                        <a:rPr sz="1100" b="0" dirty="0" err="1">
                          <a:solidFill>
                            <a:srgbClr val="1E293B"/>
                          </a:solidFill>
                          <a:latin typeface="Calibri"/>
                        </a:rPr>
                        <a:t>деньгах</a:t>
                      </a:r>
                      <a:endParaRPr sz="1100" b="0" dirty="0">
                        <a:solidFill>
                          <a:srgbClr val="1E293B"/>
                        </a:solidFill>
                        <a:latin typeface="Calibri"/>
                      </a:endParaRPr>
                    </a:p>
                  </a:txBody>
                  <a:tcPr marL="70000" marR="7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300000"/>
            <a:ext cx="82296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100" b="0" dirty="0" err="1">
                <a:solidFill>
                  <a:srgbClr val="475569"/>
                </a:solidFill>
                <a:latin typeface="Calibri"/>
              </a:rPr>
              <a:t>Методологии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не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исключают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друг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друга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: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например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,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оценку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по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 OCTAVE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можно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оформить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 в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рамке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 ISO 27005, а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ключевые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риски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посчитать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по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 FAIR.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1136E3-99D5-828F-CB7D-3F10B012B243}"/>
              </a:ext>
            </a:extLst>
          </p:cNvPr>
          <p:cNvSpPr txBox="1"/>
          <p:nvPr/>
        </p:nvSpPr>
        <p:spPr>
          <a:xfrm>
            <a:off x="320040" y="-954107"/>
            <a:ext cx="851798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rgbClr val="1C1C1C"/>
                </a:solidFill>
              </a:rPr>
              <a:t>Реализованные риски ИБ: от уязвимости к катастрофе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040462-DD33-96DC-4D40-601CBD89CFED}"/>
              </a:ext>
            </a:extLst>
          </p:cNvPr>
          <p:cNvSpPr txBox="1"/>
          <p:nvPr/>
        </p:nvSpPr>
        <p:spPr>
          <a:xfrm>
            <a:off x="967524" y="1741738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u="none" strike="noStrike" dirty="0">
                <a:effectLst/>
              </a:rPr>
              <a:t>Equifax</a:t>
            </a:r>
            <a:r>
              <a:rPr lang="ru-RU" sz="1600" dirty="0"/>
              <a:t> - одно из крупнейших мировых бюро кредитных историй (БКИ), базирующееся в США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74AFDEB-730A-E871-5583-42018748B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748" y="1743746"/>
            <a:ext cx="584776" cy="58477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8C3BEB3-FD3C-9DC3-D876-D423BD08C684}"/>
              </a:ext>
            </a:extLst>
          </p:cNvPr>
          <p:cNvSpPr txBox="1"/>
          <p:nvPr/>
        </p:nvSpPr>
        <p:spPr>
          <a:xfrm>
            <a:off x="967524" y="2654675"/>
            <a:ext cx="58351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/>
              <a:t>Colonial Pipeline -</a:t>
            </a:r>
            <a:r>
              <a:rPr lang="ru-RU" sz="1600" dirty="0"/>
              <a:t> крупнейшая трубопроводная система в США, которая поставляет бензин, дизельное топливо и авиакеросин с заводов</a:t>
            </a:r>
          </a:p>
        </p:txBody>
      </p:sp>
      <p:pic>
        <p:nvPicPr>
          <p:cNvPr id="1028" name="Picture 4" descr="Colonial Pipeline | MP+F">
            <a:extLst>
              <a:ext uri="{FF2B5EF4-FFF2-40B4-BE49-F238E27FC236}">
                <a16:creationId xmlns:a16="http://schemas.microsoft.com/office/drawing/2014/main" id="{18B830F6-B476-3A79-FC76-1BB3B5A486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637" y="2652644"/>
            <a:ext cx="833028" cy="833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13CD739-48AC-CF6F-B564-D54B9E962665}"/>
              </a:ext>
            </a:extLst>
          </p:cNvPr>
          <p:cNvSpPr txBox="1"/>
          <p:nvPr/>
        </p:nvSpPr>
        <p:spPr>
          <a:xfrm>
            <a:off x="967524" y="3764110"/>
            <a:ext cx="59978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/>
              <a:t>Norsk Hydro </a:t>
            </a:r>
            <a:r>
              <a:rPr lang="ru-RU" sz="1600" dirty="0"/>
              <a:t>- крупная норвежская промышленная компания, одна из ведущих мировых корпораций по производству алюминия и возобновляемой энергии</a:t>
            </a:r>
          </a:p>
        </p:txBody>
      </p:sp>
      <p:pic>
        <p:nvPicPr>
          <p:cNvPr id="1030" name="Picture 6" descr="Norsk Hydro — Википедия">
            <a:extLst>
              <a:ext uri="{FF2B5EF4-FFF2-40B4-BE49-F238E27FC236}">
                <a16:creationId xmlns:a16="http://schemas.microsoft.com/office/drawing/2014/main" id="{A7F501C8-05A8-9C23-83F6-8F037ED0B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748" y="3880470"/>
            <a:ext cx="597724" cy="598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6E3ACC70-B6CB-7207-1BA9-AE157FD153FE}"/>
              </a:ext>
            </a:extLst>
          </p:cNvPr>
          <p:cNvCxnSpPr>
            <a:cxnSpLocks/>
          </p:cNvCxnSpPr>
          <p:nvPr/>
        </p:nvCxnSpPr>
        <p:spPr>
          <a:xfrm>
            <a:off x="320040" y="2562860"/>
            <a:ext cx="67939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47B3D0CA-9A5A-700F-F11C-F4E8B7F779B0}"/>
              </a:ext>
            </a:extLst>
          </p:cNvPr>
          <p:cNvCxnSpPr>
            <a:cxnSpLocks/>
          </p:cNvCxnSpPr>
          <p:nvPr/>
        </p:nvCxnSpPr>
        <p:spPr>
          <a:xfrm>
            <a:off x="320040" y="3627120"/>
            <a:ext cx="67939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719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1136E3-99D5-828F-CB7D-3F10B012B243}"/>
              </a:ext>
            </a:extLst>
          </p:cNvPr>
          <p:cNvSpPr txBox="1"/>
          <p:nvPr/>
        </p:nvSpPr>
        <p:spPr>
          <a:xfrm>
            <a:off x="1304769" y="270219"/>
            <a:ext cx="744299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/>
              <a:t>Риск нерегулярного патч-менеджмента: Кейс </a:t>
            </a:r>
            <a:r>
              <a:rPr lang="ru-RU" sz="2800" b="1" dirty="0">
                <a:solidFill>
                  <a:srgbClr val="9F1B32"/>
                </a:solidFill>
              </a:rPr>
              <a:t>Equifax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E0D7987-F44F-FE39-E00E-B7CFD568A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05" y="239454"/>
            <a:ext cx="981232" cy="981232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9DEB2178-29B4-F5D2-7C74-67503B6FF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305" y="1487726"/>
            <a:ext cx="903732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</a:rPr>
              <a:t>Риск ИБ: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</a:rPr>
              <a:t>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Использование устаревшего ПО и отсутствие Patch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</a:rPr>
              <a:t>Уязвимость: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</a:rPr>
              <a:t>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Известная брешь в веб-фреймворке Apache Struts, для которой разработчик уже выпустил официальный патч.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Инцидент: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Хакеры просканировали сеть, нашли незащищенный сервер компании и получили доступ к базам данных</a:t>
            </a:r>
            <a:r>
              <a:rPr lang="ru-RU" altLang="ru-RU" dirty="0"/>
              <a:t>.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ru-RU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Последствия: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Утечка персональных данных 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147 млн человек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(номера соц. страхования, паспорта, кредитные карты).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Финансовые потери и компенсации превысили 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9F1B32"/>
                </a:solidFill>
                <a:effectLst/>
              </a:rPr>
              <a:t>$700 млн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Полная потеря репутации и отставка ключевого руководства.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3068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1136E3-99D5-828F-CB7D-3F10B012B243}"/>
              </a:ext>
            </a:extLst>
          </p:cNvPr>
          <p:cNvSpPr txBox="1"/>
          <p:nvPr/>
        </p:nvSpPr>
        <p:spPr>
          <a:xfrm>
            <a:off x="1304769" y="270219"/>
            <a:ext cx="744299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/>
              <a:t>Кейс </a:t>
            </a:r>
            <a:r>
              <a:rPr lang="ru-RU" sz="2800" b="1" dirty="0">
                <a:solidFill>
                  <a:srgbClr val="EE3A43"/>
                </a:solidFill>
              </a:rPr>
              <a:t>Colonial</a:t>
            </a:r>
            <a:r>
              <a:rPr lang="ru-RU" sz="2800" b="1" dirty="0"/>
              <a:t> </a:t>
            </a:r>
            <a:r>
              <a:rPr lang="ru-RU" sz="2800" b="1" dirty="0">
                <a:solidFill>
                  <a:srgbClr val="0053A0"/>
                </a:solidFill>
              </a:rPr>
              <a:t>Pipeline</a:t>
            </a:r>
            <a:r>
              <a:rPr lang="ru-RU" sz="2800" b="1" dirty="0"/>
              <a:t> — как один пароль остановил топливопровод</a:t>
            </a:r>
            <a:endParaRPr lang="ru-RU" sz="2800" b="1" dirty="0">
              <a:solidFill>
                <a:srgbClr val="9F1B32"/>
              </a:solidFill>
            </a:endParaRPr>
          </a:p>
        </p:txBody>
      </p:sp>
      <p:pic>
        <p:nvPicPr>
          <p:cNvPr id="4" name="Picture 4" descr="Colonial Pipeline | MP+F">
            <a:extLst>
              <a:ext uri="{FF2B5EF4-FFF2-40B4-BE49-F238E27FC236}">
                <a16:creationId xmlns:a16="http://schemas.microsoft.com/office/drawing/2014/main" id="{55B42E08-B53F-214C-A3A8-5B4F004036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29" y="99060"/>
            <a:ext cx="1202240" cy="120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C01752-2CC0-77EF-C0B9-BA0A2A28DA5A}"/>
              </a:ext>
            </a:extLst>
          </p:cNvPr>
          <p:cNvSpPr txBox="1"/>
          <p:nvPr/>
        </p:nvSpPr>
        <p:spPr>
          <a:xfrm>
            <a:off x="196714" y="1301300"/>
            <a:ext cx="875057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accent4">
                    <a:lumMod val="75000"/>
                  </a:schemeClr>
                </a:solidFill>
              </a:rPr>
              <a:t>Риск ИБ</a:t>
            </a:r>
            <a:r>
              <a:rPr lang="ru-RU" dirty="0"/>
              <a:t>: Отсутствие многофакторной аутентификации (MFA) на критических точках входа и слабый контроль за устаревшими учетными записями.</a:t>
            </a:r>
          </a:p>
          <a:p>
            <a:r>
              <a:rPr lang="ru-RU" b="1" dirty="0">
                <a:solidFill>
                  <a:schemeClr val="accent2">
                    <a:lumMod val="75000"/>
                  </a:schemeClr>
                </a:solidFill>
              </a:rPr>
              <a:t>Уязвимость</a:t>
            </a:r>
            <a:r>
              <a:rPr lang="ru-RU" dirty="0"/>
              <a:t>: В даркнет попал логин и пароль от неиспользуемого профиля VPN, который не был защищен MFA.</a:t>
            </a:r>
          </a:p>
          <a:p>
            <a:r>
              <a:rPr lang="ru-RU" b="1" dirty="0">
                <a:solidFill>
                  <a:srgbClr val="C00000"/>
                </a:solidFill>
              </a:rPr>
              <a:t>Инцидент</a:t>
            </a:r>
            <a:r>
              <a:rPr lang="ru-RU" dirty="0"/>
              <a:t>: Злоумышленники зашли в систему по утекшим учетным данным и запустили вирус-шифровальщик DarkSide.</a:t>
            </a:r>
          </a:p>
          <a:p>
            <a:endParaRPr lang="ru-RU" dirty="0"/>
          </a:p>
          <a:p>
            <a:r>
              <a:rPr lang="ru-RU" b="1" dirty="0"/>
              <a:t>Последствия</a:t>
            </a:r>
            <a:r>
              <a:rPr lang="ru-RU" dirty="0"/>
              <a:t>:</a:t>
            </a:r>
          </a:p>
          <a:p>
            <a:r>
              <a:rPr lang="ru-RU" dirty="0"/>
              <a:t>Полная остановка крупнейшего топливопровода Восточного побережья США на 6 дней.</a:t>
            </a:r>
          </a:p>
          <a:p>
            <a:r>
              <a:rPr lang="ru-RU" dirty="0"/>
              <a:t>Паника на АЗС, дефицит бензина и рост цен.</a:t>
            </a:r>
          </a:p>
          <a:p>
            <a:r>
              <a:rPr lang="ru-RU" dirty="0"/>
              <a:t>Выплата выкупа хакерам в размере </a:t>
            </a:r>
            <a:r>
              <a:rPr lang="ru-RU" b="1" dirty="0">
                <a:solidFill>
                  <a:srgbClr val="C00000"/>
                </a:solidFill>
              </a:rPr>
              <a:t>$4.4 млн </a:t>
            </a:r>
            <a:r>
              <a:rPr lang="ru-RU" dirty="0"/>
              <a:t>(часть позже вернула ФБР).</a:t>
            </a:r>
          </a:p>
        </p:txBody>
      </p:sp>
    </p:spTree>
    <p:extLst>
      <p:ext uri="{BB962C8B-B14F-4D97-AF65-F5344CB8AC3E}">
        <p14:creationId xmlns:p14="http://schemas.microsoft.com/office/powerpoint/2010/main" val="3432671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1136E3-99D5-828F-CB7D-3F10B012B243}"/>
              </a:ext>
            </a:extLst>
          </p:cNvPr>
          <p:cNvSpPr txBox="1"/>
          <p:nvPr/>
        </p:nvSpPr>
        <p:spPr>
          <a:xfrm>
            <a:off x="1375888" y="234560"/>
            <a:ext cx="744299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/>
              <a:t>Кейс </a:t>
            </a:r>
            <a:r>
              <a:rPr lang="ru-RU" sz="2800" b="1" dirty="0">
                <a:solidFill>
                  <a:srgbClr val="3D4557"/>
                </a:solidFill>
              </a:rPr>
              <a:t>Norsk Hydro </a:t>
            </a:r>
            <a:r>
              <a:rPr lang="ru-RU" sz="2800" b="1" dirty="0"/>
              <a:t>— паралич гиганта из-за плоской архитектуры сети</a:t>
            </a:r>
            <a:endParaRPr lang="ru-RU" sz="2800" b="1" dirty="0">
              <a:solidFill>
                <a:srgbClr val="9F1B32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DEB2178-29B4-F5D2-7C74-67503B6FF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19" y="1385842"/>
            <a:ext cx="886968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</a:rPr>
              <a:t>Риск ИБ: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</a:rPr>
              <a:t> </a:t>
            </a:r>
            <a:r>
              <a:rPr lang="ru-RU" dirty="0"/>
              <a:t>Отсутствие изоляции между офисной IT-сетью и промышленными технологическими процессами (OT-сетью).</a:t>
            </a: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</a:rPr>
              <a:t>Уязвимость: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</a:rPr>
              <a:t> </a:t>
            </a:r>
            <a:r>
              <a:rPr lang="ru-RU" dirty="0"/>
              <a:t>Исполнение вредоносного файла из фишингового письма, пришедшего от доверенного стороннего партнера.</a:t>
            </a: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Инцидент: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 </a:t>
            </a:r>
            <a:r>
              <a:rPr lang="ru-RU" dirty="0"/>
              <a:t>Сотрудник открыл зараженный файл, после чего шифровальщик моментально распространился по всей глобальной сети компании, заблокировав тысячи серверов и рабочих станций в 40 странах.</a:t>
            </a: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ru-RU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Последствия: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dirty="0"/>
              <a:t>Полная остановка и перевод металлургических заводов по всему миру на ручное управление.</a:t>
            </a: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dirty="0"/>
              <a:t>Прямой финансовый ущерб составил более </a:t>
            </a:r>
            <a:r>
              <a:rPr lang="ru-RU" b="1" dirty="0">
                <a:solidFill>
                  <a:srgbClr val="C00000"/>
                </a:solidFill>
              </a:rPr>
              <a:t>$71 млн</a:t>
            </a:r>
            <a:r>
              <a:rPr lang="ru-RU" dirty="0">
                <a:solidFill>
                  <a:srgbClr val="C00000"/>
                </a:solidFill>
              </a:rPr>
              <a:t>.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6" descr="Norsk Hydro — Википедия">
            <a:extLst>
              <a:ext uri="{FF2B5EF4-FFF2-40B4-BE49-F238E27FC236}">
                <a16:creationId xmlns:a16="http://schemas.microsoft.com/office/drawing/2014/main" id="{70FD0073-1A9C-0BA0-1129-B3FD3EE0DE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" y="270217"/>
            <a:ext cx="857770" cy="858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0767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365760" cy="365760"/>
          </a:xfrm>
          <a:prstGeom prst="ellipse">
            <a:avLst/>
          </a:prstGeom>
          <a:solidFill>
            <a:srgbClr val="0E74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0972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 оценивается по тройке TVA: угроза, уязвимость, актив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800600" y="1325880"/>
            <a:ext cx="365760" cy="365760"/>
          </a:xfrm>
          <a:prstGeom prst="ellipse">
            <a:avLst/>
          </a:prstGeom>
          <a:solidFill>
            <a:srgbClr val="C2410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303520" y="10972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— непрерывный цикл, а не разовое действие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94360" y="2286000"/>
            <a:ext cx="365760" cy="36576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0574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Оценка: вероятность × воздействие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205740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800600" y="2286000"/>
            <a:ext cx="365760" cy="365760"/>
          </a:xfrm>
          <a:prstGeom prst="ellipse">
            <a:avLst/>
          </a:prstGeom>
          <a:solidFill>
            <a:srgbClr val="0E74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20574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стратегии: снижение, передача, принятие, прекращение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94360" y="3246120"/>
            <a:ext cx="365760" cy="365760"/>
          </a:xfrm>
          <a:prstGeom prst="ellipse">
            <a:avLst/>
          </a:prstGeom>
          <a:solidFill>
            <a:srgbClr val="C2410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175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Остаточный риск должен укладываться в аппетит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800600" y="3246120"/>
            <a:ext cx="365760" cy="36576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303520" y="30175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CBA оправдывает затраты на контроли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</a:t>
            </a: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нулевой риск, а приемлемый уровень при сохранении работоспособности бизнеса.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7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28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30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32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3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Источники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3894"/>
            <a:ext cx="8229600" cy="28007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0" dirty="0">
                <a:solidFill>
                  <a:srgbClr val="1E293B"/>
                </a:solidFill>
                <a:latin typeface="Calibri"/>
              </a:rPr>
              <a:t>Whitman M. E.,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Mattord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H. J. Principles of Information Security. Cengage Learning</a:t>
            </a:r>
            <a:r>
              <a:rPr lang="en-US" sz="1200" b="0" dirty="0">
                <a:solidFill>
                  <a:srgbClr val="1E293B"/>
                </a:solidFill>
                <a:latin typeface="Calibri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en-US" sz="1200" b="0" dirty="0">
                <a:solidFill>
                  <a:srgbClr val="1E293B"/>
                </a:solidFill>
                <a:latin typeface="Calibri"/>
              </a:rPr>
              <a:t>Alberts C., </a:t>
            </a:r>
            <a:r>
              <a:rPr lang="en-US" sz="1200" b="0" dirty="0" err="1">
                <a:solidFill>
                  <a:srgbClr val="1E293B"/>
                </a:solidFill>
                <a:latin typeface="Calibri"/>
              </a:rPr>
              <a:t>Dorofee</a:t>
            </a:r>
            <a:r>
              <a:rPr lang="en-US" sz="1200" b="0" dirty="0">
                <a:solidFill>
                  <a:srgbClr val="1E293B"/>
                </a:solidFill>
                <a:latin typeface="Calibri"/>
              </a:rPr>
              <a:t> A., Stevens J., Woody C. Introduction to the OCTAVE Approach. CERT/SEI, Carnegie Mellon University, 2003.</a:t>
            </a:r>
          </a:p>
          <a:p>
            <a:pPr>
              <a:spcAft>
                <a:spcPts val="600"/>
              </a:spcAft>
            </a:pPr>
            <a:r>
              <a:rPr sz="1200" b="0" dirty="0" err="1">
                <a:solidFill>
                  <a:srgbClr val="1E293B"/>
                </a:solidFill>
                <a:latin typeface="Calibri"/>
              </a:rPr>
              <a:t>Caralli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R. et al. OCTAVE Allegro: Improving the Information Security Risk Assessment Process. CMU/SEI-2007-TR-012.</a:t>
            </a:r>
          </a:p>
          <a:p>
            <a:pPr>
              <a:spcAft>
                <a:spcPts val="600"/>
              </a:spcAft>
            </a:pPr>
            <a:r>
              <a:rPr sz="1200" b="0" dirty="0">
                <a:solidFill>
                  <a:srgbClr val="1E293B"/>
                </a:solidFill>
                <a:latin typeface="Calibri"/>
              </a:rPr>
              <a:t>ISO 31000:2018. Risk management: Guidelines.</a:t>
            </a:r>
          </a:p>
          <a:p>
            <a:pPr>
              <a:spcAft>
                <a:spcPts val="600"/>
              </a:spcAft>
            </a:pPr>
            <a:r>
              <a:rPr sz="1200" b="0" dirty="0">
                <a:solidFill>
                  <a:srgbClr val="1E293B"/>
                </a:solidFill>
                <a:latin typeface="Calibri"/>
              </a:rPr>
              <a:t>ISO/IEC 27005:2022. Information security, cybersecurity and privacy protection: Guidance on managing information security risks.</a:t>
            </a:r>
          </a:p>
          <a:p>
            <a:pPr>
              <a:spcAft>
                <a:spcPts val="600"/>
              </a:spcAft>
            </a:pPr>
            <a:r>
              <a:rPr sz="1200" b="0" dirty="0">
                <a:solidFill>
                  <a:srgbClr val="1E293B"/>
                </a:solidFill>
                <a:latin typeface="Calibri"/>
              </a:rPr>
              <a:t>ISO/IEC 27001:2022. Information security management systems: Requirements.</a:t>
            </a:r>
          </a:p>
          <a:p>
            <a:pPr>
              <a:spcAft>
                <a:spcPts val="600"/>
              </a:spcAft>
            </a:pPr>
            <a:r>
              <a:rPr sz="1200" b="0" dirty="0">
                <a:solidFill>
                  <a:srgbClr val="1E293B"/>
                </a:solidFill>
                <a:latin typeface="Calibri"/>
              </a:rPr>
              <a:t>NIST SP 800-30 Rev. 1. Guide for Conducting Risk Assessments, 2012. NIST SP 800-37 Rev. 2. Risk Management, 2018.</a:t>
            </a:r>
          </a:p>
          <a:p>
            <a:pPr>
              <a:spcAft>
                <a:spcPts val="600"/>
              </a:spcAft>
            </a:pPr>
            <a:r>
              <a:rPr sz="1200" b="0" dirty="0">
                <a:solidFill>
                  <a:srgbClr val="1E293B"/>
                </a:solidFill>
                <a:latin typeface="Calibri"/>
              </a:rPr>
              <a:t>The Open Group. Open FAIR: Risk Taxonomy (O-RT) and Risk Analysis (O-RA) standards.</a:t>
            </a:r>
          </a:p>
          <a:p>
            <a:pPr>
              <a:spcAft>
                <a:spcPts val="600"/>
              </a:spcAft>
            </a:pPr>
            <a:r>
              <a:rPr sz="1200" b="0" dirty="0" err="1">
                <a:solidFill>
                  <a:srgbClr val="1E293B"/>
                </a:solidFill>
                <a:latin typeface="Calibri"/>
              </a:rPr>
              <a:t>Кейсы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Equifax (2017), Colonial Pipeline (2021) и Norsk Hydro (2019):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открытые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данные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об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инцидентах</a:t>
            </a:r>
            <a:r>
              <a:rPr lang="en-US" sz="1200" dirty="0">
                <a:solidFill>
                  <a:srgbClr val="1E293B"/>
                </a:solidFill>
                <a:latin typeface="Calibri"/>
              </a:rPr>
              <a:t>.</a:t>
            </a:r>
            <a:endParaRPr lang="en-US" sz="1200" b="0" dirty="0">
              <a:solidFill>
                <a:srgbClr val="1E293B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200" b="0" dirty="0">
                <a:solidFill>
                  <a:srgbClr val="1E293B"/>
                </a:solidFill>
                <a:latin typeface="Calibri"/>
              </a:rPr>
              <a:t>Norsk Hydro: </a:t>
            </a:r>
            <a:r>
              <a:rPr lang="ru-RU" sz="1200" b="0" dirty="0">
                <a:solidFill>
                  <a:srgbClr val="1E293B"/>
                </a:solidFill>
                <a:latin typeface="Calibri"/>
              </a:rPr>
              <a:t>материалы</a:t>
            </a:r>
            <a:r>
              <a:rPr lang="en-US" sz="1200" b="0" dirty="0">
                <a:solidFill>
                  <a:srgbClr val="1E293B"/>
                </a:solidFill>
                <a:latin typeface="Calibri"/>
              </a:rPr>
              <a:t>.</a:t>
            </a:r>
            <a:endParaRPr sz="1200" b="0" dirty="0">
              <a:solidFill>
                <a:srgbClr val="1E293B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200" b="0" dirty="0">
                <a:solidFill>
                  <a:srgbClr val="1E293B"/>
                </a:solidFill>
                <a:latin typeface="Calibri"/>
              </a:rPr>
              <a:t>Colonial Pipeline: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материалы</a:t>
            </a:r>
            <a:r>
              <a:rPr lang="en-US" sz="1200" b="0" dirty="0">
                <a:solidFill>
                  <a:srgbClr val="1E293B"/>
                </a:solidFill>
                <a:latin typeface="Calibri"/>
              </a:rPr>
              <a:t>.</a:t>
            </a:r>
            <a:endParaRPr sz="1200" b="0" dirty="0">
              <a:solidFill>
                <a:srgbClr val="1E293B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3949</Words>
  <Application>Microsoft Office PowerPoint</Application>
  <PresentationFormat>Экран (16:9)</PresentationFormat>
  <Paragraphs>460</Paragraphs>
  <Slides>25</Slides>
  <Notes>21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Мурад Рагимов</cp:lastModifiedBy>
  <cp:revision>13</cp:revision>
  <dcterms:created xsi:type="dcterms:W3CDTF">2026-09-30T17:51:39Z</dcterms:created>
  <dcterms:modified xsi:type="dcterms:W3CDTF">2026-10-01T08:31:24Z</dcterms:modified>
</cp:coreProperties>
</file>